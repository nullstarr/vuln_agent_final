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Hedges missed, of 56 (the dangerous error)</c:v>
                </c:pt>
              </c:strCache>
            </c:strRef>
          </c:tx>
          <c:spPr>
            <a:solidFill>
              <a:srgbClr val="8D9AA8"/>
            </a:solidFill>
            <a:effectLst/>
          </c:spPr>
          <c:invertIfNegative val="0"/>
          <c:dLbls>
            <c:numFmt formatCode="#,##0" sourceLinked="0"/>
            <c:txPr>
              <a:bodyPr/>
              <a:lstStyle/>
              <a:p>
                <a:pPr>
                  <a:defRPr b="1" i="0" strike="noStrike" sz="1300" u="none">
                    <a:solidFill>
                      <a:srgbClr val="1B2733"/>
                    </a:solidFill>
                    <a:latin typeface="Arial"/>
                  </a:defRPr>
                </a:pPr>
              </a:p>
            </c:txPr>
            <c:showLegendKey val="0"/>
            <c:showVal val="1"/>
            <c:showCatName val="0"/>
            <c:showSerName val="0"/>
            <c:showPercent val="0"/>
            <c:showBubbleSize val="0"/>
            <c:showLeaderLines val="0"/>
          </c:dLbls>
          <c:dPt>
            <c:idx val="0"/>
            <c:invertIfNegative val="0"/>
            <c:bubble3D val="0"/>
            <c:spPr>
              <a:solidFill>
                <a:srgbClr val="8D9AA8"/>
              </a:solidFill>
              <a:effectLst/>
            </c:spPr>
          </c:dPt>
          <c:dPt>
            <c:idx val="1"/>
            <c:invertIfNegative val="0"/>
            <c:bubble3D val="0"/>
            <c:spPr>
              <a:solidFill>
                <a:srgbClr val="8D9AA8"/>
              </a:solidFill>
              <a:effectLst/>
            </c:spPr>
          </c:dPt>
          <c:dPt>
            <c:idx val="2"/>
            <c:invertIfNegative val="0"/>
            <c:bubble3D val="0"/>
            <c:spPr>
              <a:solidFill>
                <a:srgbClr val="5B9BF0"/>
              </a:solidFill>
              <a:effectLst/>
            </c:spPr>
          </c:dPt>
          <c:dPt>
            <c:idx val="3"/>
            <c:invertIfNegative val="0"/>
            <c:bubble3D val="0"/>
            <c:spPr>
              <a:solidFill>
                <a:srgbClr val="8D9AA8"/>
              </a:solidFill>
              <a:effectLst/>
            </c:spPr>
          </c:dPt>
          <c:cat>
            <c:strRef>
              <c:f>Sheet1!$A$2:$A$6</c:f>
              <c:strCache>
                <c:ptCount val="5"/>
                <c:pt idx="0">
                  <c:v>Rules only</c:v>
                </c:pt>
                <c:pt idx="1">
                  <c:v>Model, prompt v1</c:v>
                </c:pt>
                <c:pt idx="2">
                  <c:v>Model, prompt v2 (used)</c:v>
                </c:pt>
                <c:pt idx="3">
                  <c:v>Model, prompt v3 (not adopted)</c:v>
                </c:pt>
                <c:pt idx="4">
                  <c:v>Nemotron 3.5 lightning</c:v>
                </c:pt>
              </c:strCache>
            </c:strRef>
          </c:cat>
          <c:val>
            <c:numRef>
              <c:f>Sheet1!$B$2:$B$6</c:f>
              <c:numCache>
                <c:formatCode>General</c:formatCode>
                <c:ptCount val="5"/>
                <c:pt idx="0">
                  <c:v>55.0</c:v>
                </c:pt>
                <c:pt idx="1">
                  <c:v>1.0</c:v>
                </c:pt>
                <c:pt idx="2">
                  <c:v>3.0</c:v>
                </c:pt>
                <c:pt idx="3">
                  <c:v>1.0</c:v>
                </c:pt>
                <c:pt idx="4">
                  <c:v>2.0</c:v>
                </c:pt>
              </c:numCache>
            </c:numRef>
          </c:val>
        </c:ser>
        <c:dLbls>
          <c:numFmt formatCode="#,##0" sourceLinked="0"/>
          <c:txPr>
            <a:bodyPr/>
            <a:lstStyle/>
            <a:p>
              <a:pPr>
                <a:defRPr b="1" i="0" strike="noStrike" sz="1300" u="none">
                  <a:solidFill>
                    <a:srgbClr val="1B27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max val="5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False alarms, of 86 (harmless but noisy)</c:v>
                </c:pt>
              </c:strCache>
            </c:strRef>
          </c:tx>
          <c:spPr>
            <a:solidFill>
              <a:srgbClr val="8D9AA8"/>
            </a:solidFill>
            <a:effectLst/>
          </c:spPr>
          <c:invertIfNegative val="0"/>
          <c:dLbls>
            <c:numFmt formatCode="#,##0" sourceLinked="0"/>
            <c:txPr>
              <a:bodyPr/>
              <a:lstStyle/>
              <a:p>
                <a:pPr>
                  <a:defRPr b="1" i="0" strike="noStrike" sz="1300" u="none">
                    <a:solidFill>
                      <a:srgbClr val="1B2733"/>
                    </a:solidFill>
                    <a:latin typeface="Arial"/>
                  </a:defRPr>
                </a:pPr>
              </a:p>
            </c:txPr>
            <c:showLegendKey val="0"/>
            <c:showVal val="1"/>
            <c:showCatName val="0"/>
            <c:showSerName val="0"/>
            <c:showPercent val="0"/>
            <c:showBubbleSize val="0"/>
            <c:showLeaderLines val="0"/>
          </c:dLbls>
          <c:dPt>
            <c:idx val="0"/>
            <c:invertIfNegative val="0"/>
            <c:bubble3D val="0"/>
            <c:spPr>
              <a:solidFill>
                <a:srgbClr val="8D9AA8"/>
              </a:solidFill>
              <a:effectLst/>
            </c:spPr>
          </c:dPt>
          <c:dPt>
            <c:idx val="1"/>
            <c:invertIfNegative val="0"/>
            <c:bubble3D val="0"/>
            <c:spPr>
              <a:solidFill>
                <a:srgbClr val="8D9AA8"/>
              </a:solidFill>
              <a:effectLst/>
            </c:spPr>
          </c:dPt>
          <c:dPt>
            <c:idx val="2"/>
            <c:invertIfNegative val="0"/>
            <c:bubble3D val="0"/>
            <c:spPr>
              <a:solidFill>
                <a:srgbClr val="5B9BF0"/>
              </a:solidFill>
              <a:effectLst/>
            </c:spPr>
          </c:dPt>
          <c:dPt>
            <c:idx val="3"/>
            <c:invertIfNegative val="0"/>
            <c:bubble3D val="0"/>
            <c:spPr>
              <a:solidFill>
                <a:srgbClr val="8D9AA8"/>
              </a:solidFill>
              <a:effectLst/>
            </c:spPr>
          </c:dPt>
          <c:cat>
            <c:strRef>
              <c:f>Sheet1!$A$2:$A$6</c:f>
              <c:strCache>
                <c:ptCount val="5"/>
                <c:pt idx="0">
                  <c:v>Rules only</c:v>
                </c:pt>
                <c:pt idx="1">
                  <c:v>Model, prompt v1</c:v>
                </c:pt>
                <c:pt idx="2">
                  <c:v>Model, prompt v2 (used; 9 or 10)</c:v>
                </c:pt>
                <c:pt idx="3">
                  <c:v>Model, prompt v3 (not adopted)</c:v>
                </c:pt>
                <c:pt idx="4">
                  <c:v>Nemotron 3.5 lightning</c:v>
                </c:pt>
              </c:strCache>
            </c:strRef>
          </c:cat>
          <c:val>
            <c:numRef>
              <c:f>Sheet1!$B$2:$B$6</c:f>
              <c:numCache>
                <c:formatCode>General</c:formatCode>
                <c:ptCount val="5"/>
                <c:pt idx="0">
                  <c:v>0.0</c:v>
                </c:pt>
                <c:pt idx="1">
                  <c:v>50.0</c:v>
                </c:pt>
                <c:pt idx="2">
                  <c:v>10.0</c:v>
                </c:pt>
                <c:pt idx="3">
                  <c:v>22.0</c:v>
                </c:pt>
                <c:pt idx="4">
                  <c:v>0.0</c:v>
                </c:pt>
              </c:numCache>
            </c:numRef>
          </c:val>
        </c:ser>
        <c:dLbls>
          <c:numFmt formatCode="#,##0" sourceLinked="0"/>
          <c:txPr>
            <a:bodyPr/>
            <a:lstStyle/>
            <a:p>
              <a:pPr>
                <a:defRPr b="1" i="0" strike="noStrike" sz="1300" u="none">
                  <a:solidFill>
                    <a:srgbClr val="1B27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Calibri"/>
              </a:defRPr>
            </a:pPr>
            <a:endParaRPr lang="en-US"/>
          </a:p>
        </c:txPr>
        <c:crossAx val="2094734552"/>
        <c:crosses val="autoZero"/>
        <c:auto val="1"/>
        <c:lblAlgn val="ctr"/>
        <c:noMultiLvlLbl val="1"/>
      </c:catAx>
      <c:valAx>
        <c:axId val="2094734552"/>
        <c:scaling>
          <c:orientation val="minMax"/>
          <c:max val="8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vendor says a vulnerability is fixed. Our system asks the question security teams ask: is it fixed HERE, on our systems, and what is the evidence? The three cards are the real Log4Shell case from our sample data (the internal ticket is synthetic). [Fill in: team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three blind spots. The database tells you the flaw exists, the vendor tells you a fix exists, and only your own ticket can tell you it is deployed here. The Equifax breach is the textbook case of a published fix that had not reached every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is an analyst with many open vulnerabilities and three sources that disagree. The tool does not replace their judgement; it gives them a decision, the evidence behind it, the next step, and an order to work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rule the whole system enforces. A vendor can say a fix exists; only the internal evidence can say it is deployed. Everything else in the system follows from this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go in on the left, a decision and its explanation come out on the right. The ChallengeAgent is the important part: when the Reconciler drafts 'resolved' on the vendor's word alone, the Challenger rejects it and sends it back. The language model is optional; the system runs without one. [Update the Zetaris and NVIDIA lines after the build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 over fourteen cases ends with this table. The order is deliberately simple and explainable: unresolved and severe first. The resolved cases sit at the bottom, and each row says in a few words why. Note that CVE-2023-0004 is unresolved because the vendor's claim is broader than what it backs, not because anything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Log4Shell, the real CVE with a synthetic internal ticket. The vendor says lookups are disabled by default; the internal ticket says two clusters were never confirmed. The system refuses to downgrade the severity, and instead of just saying 'not resolved' it tells the analyst exactly which sentence raised the doubt and what to verify. The right-hand box is read from the Meterless engine's state, not stored and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case over nine days. On day 4 the internal scan confirms thirteen of fourteen applications and the system names the one that is not confirmed, which is exactly the gap that mattered at Equifax. On day 9 the portal is upgraded and re-tested, and only then does the decision change to resolved. The decision never flips on the vendor's announcement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one engine for the one thing it is built for: settling contradictions with a record of why. Two practical findings: the reference's store file is not written atomically, so a half-written file can break a restart; and after a restart it forgets which facts were superseded, which flipped a verdict in our own test. Both are handled, and both are covered by tests that fail when the fix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alone miss almost every unusual hedge. A language model finds them but cried wolf on more than half of the clear statements. A better prompt fixed most of that. We then tried a third prompt against the errors on the development half; it looked like a big win there, but did not carry over to the held-out half, so we kept the second. The corpus is our own, so these numbers show gaps, not real-world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what is finished and what is not. Meterless is integrated and tested. NVIDIA has a provider that has been checked against a stand-in but not yet measured on the corpus. Zetaris and Cursor are placeholders until the build window. [Fill these rows in before submission; delete any row that cannot be stated truthfully.]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anyone asks. The data is simulated on the internal side, the model is not perfect, and the ranking is deliberately simple. The next steps are concrete: a real data layer, a second model family measured on the same corpus, and richer signals for the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claim: not just a verdict, but a verdict you can check, with the evidence and the next step. The repository has the code, the tests and the measurements. [Fill in: team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A24"/>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E8863A"/>
                </a:solidFill>
                <a:latin typeface="Calibri" pitchFamily="34" charset="0"/>
                <a:ea typeface="Calibri" pitchFamily="34" charset="-122"/>
                <a:cs typeface="Calibri" pitchFamily="34" charset="-120"/>
              </a:rPr>
              <a:t>OPEN AGENT HACKATHON 2026  ·  TRACK 2: THE AGENT THAT CAN EXPLAIN WHY</a:t>
            </a:r>
            <a:endParaRPr lang="en-US" sz="1200" dirty="0"/>
          </a:p>
        </p:txBody>
      </p:sp>
      <p:sp>
        <p:nvSpPr>
          <p:cNvPr id="3" name="Text 1"/>
          <p:cNvSpPr txBox="1"/>
          <p:nvPr/>
        </p:nvSpPr>
        <p:spPr>
          <a:xfrm>
            <a:off x="548640" y="1463040"/>
            <a:ext cx="6400800" cy="2011680"/>
          </a:xfrm>
          <a:prstGeom prst="rect">
            <a:avLst/>
          </a:prstGeom>
          <a:noFill/>
          <a:ln/>
        </p:spPr>
        <p:txBody>
          <a:bodyPr wrap="square" lIns="0" tIns="0" rIns="0" bIns="0" rtlCol="0" anchor="t"/>
          <a:lstStyle/>
          <a:p>
            <a:pPr indent="0" marL="0">
              <a:buNone/>
            </a:pPr>
            <a:r>
              <a:rPr lang="en-US" sz="5400" b="1" dirty="0">
                <a:solidFill>
                  <a:srgbClr val="E9EEF4"/>
                </a:solidFill>
                <a:latin typeface="Cambria" pitchFamily="34" charset="0"/>
                <a:ea typeface="Cambria" pitchFamily="34" charset="-122"/>
                <a:cs typeface="Cambria" pitchFamily="34" charset="-120"/>
              </a:rPr>
              <a:t>Does "fixed" mean fixed?</a:t>
            </a:r>
            <a:endParaRPr lang="en-US" sz="5400" dirty="0"/>
          </a:p>
        </p:txBody>
      </p:sp>
      <p:sp>
        <p:nvSpPr>
          <p:cNvPr id="4" name="Text 2"/>
          <p:cNvSpPr txBox="1"/>
          <p:nvPr/>
        </p:nvSpPr>
        <p:spPr>
          <a:xfrm>
            <a:off x="548640" y="3566160"/>
            <a:ext cx="6035040" cy="1280160"/>
          </a:xfrm>
          <a:prstGeom prst="rect">
            <a:avLst/>
          </a:prstGeom>
          <a:noFill/>
          <a:ln/>
        </p:spPr>
        <p:txBody>
          <a:bodyPr wrap="square" lIns="0" tIns="0" rIns="0" bIns="0" rtlCol="0" anchor="t"/>
          <a:lstStyle/>
          <a:p>
            <a:pPr indent="0" marL="0">
              <a:buNone/>
            </a:pPr>
            <a:r>
              <a:rPr lang="en-US" sz="2000" dirty="0">
                <a:solidFill>
                  <a:srgbClr val="9FB0C1"/>
                </a:solidFill>
                <a:latin typeface="Calibri" pitchFamily="34" charset="0"/>
                <a:ea typeface="Calibri" pitchFamily="34" charset="-122"/>
                <a:cs typeface="Calibri" pitchFamily="34" charset="-120"/>
              </a:rPr>
              <a:t>A multi-agent assessor that checks a vendor's claim against your own evidence, and says what is still missing.</a:t>
            </a:r>
            <a:endParaRPr lang="en-US" sz="2000" dirty="0"/>
          </a:p>
        </p:txBody>
      </p:sp>
      <p:sp>
        <p:nvSpPr>
          <p:cNvPr id="5" name="Text 3"/>
          <p:cNvSpPr txBox="1"/>
          <p:nvPr/>
        </p:nvSpPr>
        <p:spPr>
          <a:xfrm>
            <a:off x="548640" y="6035040"/>
            <a:ext cx="7315200" cy="320040"/>
          </a:xfrm>
          <a:prstGeom prst="rect">
            <a:avLst/>
          </a:prstGeom>
          <a:noFill/>
          <a:ln/>
        </p:spPr>
        <p:txBody>
          <a:bodyPr wrap="square" lIns="0" tIns="0" rIns="0" bIns="0" rtlCol="0" anchor="ctr"/>
          <a:lstStyle/>
          <a:p>
            <a:pPr indent="0" marL="0">
              <a:buNone/>
            </a:pPr>
            <a:r>
              <a:rPr lang="en-US" sz="1400" dirty="0">
                <a:solidFill>
                  <a:srgbClr val="9FB0C1"/>
                </a:solidFill>
                <a:latin typeface="Calibri" pitchFamily="34" charset="0"/>
                <a:ea typeface="Calibri" pitchFamily="34" charset="-122"/>
                <a:cs typeface="Calibri" pitchFamily="34" charset="-120"/>
              </a:rPr>
              <a:t>The Revolutionists  ·  github.com/nullstarr/vuln_agent</a:t>
            </a:r>
            <a:endParaRPr lang="en-US" sz="1400" dirty="0"/>
          </a:p>
        </p:txBody>
      </p:sp>
      <p:sp>
        <p:nvSpPr>
          <p:cNvPr id="6" name="Shape 4"/>
          <p:cNvSpPr/>
          <p:nvPr/>
        </p:nvSpPr>
        <p:spPr>
          <a:xfrm>
            <a:off x="7406640" y="1234440"/>
            <a:ext cx="4206240" cy="1005840"/>
          </a:xfrm>
          <a:prstGeom prst="roundRect">
            <a:avLst>
              <a:gd name="adj" fmla="val 10909"/>
            </a:avLst>
          </a:prstGeom>
          <a:solidFill>
            <a:srgbClr val="192737"/>
          </a:solidFill>
          <a:ln w="12700">
            <a:solidFill>
              <a:srgbClr val="2B3E52"/>
            </a:solidFill>
            <a:prstDash val="solid"/>
          </a:ln>
        </p:spPr>
        <p:txBody>
          <a:bodyPr/>
          <a:p/>
        </p:txBody>
      </p:sp>
      <p:sp>
        <p:nvSpPr>
          <p:cNvPr id="7" name="Text 5"/>
          <p:cNvSpPr txBox="1"/>
          <p:nvPr/>
        </p:nvSpPr>
        <p:spPr>
          <a:xfrm>
            <a:off x="7635240" y="1371600"/>
            <a:ext cx="3749040" cy="256032"/>
          </a:xfrm>
          <a:prstGeom prst="rect">
            <a:avLst/>
          </a:prstGeom>
          <a:noFill/>
          <a:ln/>
        </p:spPr>
        <p:txBody>
          <a:bodyPr wrap="square" lIns="0" tIns="0" rIns="0" bIns="0" rtlCol="0" anchor="ctr"/>
          <a:lstStyle/>
          <a:p>
            <a:pPr indent="0" marL="0">
              <a:buNone/>
            </a:pPr>
            <a:r>
              <a:rPr lang="en-US" sz="1100" b="1" spc="200" kern="0" dirty="0">
                <a:solidFill>
                  <a:srgbClr val="5B9BF0"/>
                </a:solidFill>
                <a:latin typeface="Calibri" pitchFamily="34" charset="0"/>
                <a:ea typeface="Calibri" pitchFamily="34" charset="-122"/>
                <a:cs typeface="Calibri" pitchFamily="34" charset="-120"/>
              </a:rPr>
              <a:t>NVD</a:t>
            </a:r>
            <a:endParaRPr lang="en-US" sz="1100" dirty="0"/>
          </a:p>
        </p:txBody>
      </p:sp>
      <p:sp>
        <p:nvSpPr>
          <p:cNvPr id="8" name="Text 6"/>
          <p:cNvSpPr txBox="1"/>
          <p:nvPr/>
        </p:nvSpPr>
        <p:spPr>
          <a:xfrm>
            <a:off x="7635240" y="1691640"/>
            <a:ext cx="3749040" cy="411480"/>
          </a:xfrm>
          <a:prstGeom prst="rect">
            <a:avLst/>
          </a:prstGeom>
          <a:noFill/>
          <a:ln/>
        </p:spPr>
        <p:txBody>
          <a:bodyPr wrap="square" lIns="0" tIns="0" rIns="0" bIns="0" rtlCol="0" anchor="ctr"/>
          <a:lstStyle/>
          <a:p>
            <a:pPr indent="0" marL="0">
              <a:buNone/>
            </a:pPr>
            <a:r>
              <a:rPr lang="en-US" sz="1700" dirty="0">
                <a:solidFill>
                  <a:srgbClr val="E9EEF4"/>
                </a:solidFill>
                <a:latin typeface="Calibri" pitchFamily="34" charset="0"/>
                <a:ea typeface="Calibri" pitchFamily="34" charset="-122"/>
                <a:cs typeface="Calibri" pitchFamily="34" charset="-120"/>
              </a:rPr>
              <a:t>CRITICAL, CVSS 10.0</a:t>
            </a:r>
            <a:endParaRPr lang="en-US" sz="1700" dirty="0"/>
          </a:p>
        </p:txBody>
      </p:sp>
      <p:sp>
        <p:nvSpPr>
          <p:cNvPr id="9" name="Shape 7"/>
          <p:cNvSpPr/>
          <p:nvPr/>
        </p:nvSpPr>
        <p:spPr>
          <a:xfrm>
            <a:off x="7406640" y="2468880"/>
            <a:ext cx="4206240" cy="1005840"/>
          </a:xfrm>
          <a:prstGeom prst="roundRect">
            <a:avLst>
              <a:gd name="adj" fmla="val 10909"/>
            </a:avLst>
          </a:prstGeom>
          <a:solidFill>
            <a:srgbClr val="192737"/>
          </a:solidFill>
          <a:ln w="12700">
            <a:solidFill>
              <a:srgbClr val="2B3E52"/>
            </a:solidFill>
            <a:prstDash val="solid"/>
          </a:ln>
        </p:spPr>
        <p:txBody>
          <a:bodyPr/>
          <a:p/>
        </p:txBody>
      </p:sp>
      <p:sp>
        <p:nvSpPr>
          <p:cNvPr id="10" name="Text 8"/>
          <p:cNvSpPr txBox="1"/>
          <p:nvPr/>
        </p:nvSpPr>
        <p:spPr>
          <a:xfrm>
            <a:off x="7635240" y="2606040"/>
            <a:ext cx="3749040" cy="256032"/>
          </a:xfrm>
          <a:prstGeom prst="rect">
            <a:avLst/>
          </a:prstGeom>
          <a:noFill/>
          <a:ln/>
        </p:spPr>
        <p:txBody>
          <a:bodyPr wrap="square" lIns="0" tIns="0" rIns="0" bIns="0" rtlCol="0" anchor="ctr"/>
          <a:lstStyle/>
          <a:p>
            <a:pPr indent="0" marL="0">
              <a:buNone/>
            </a:pPr>
            <a:r>
              <a:rPr lang="en-US" sz="1100" b="1" spc="200" kern="0" dirty="0">
                <a:solidFill>
                  <a:srgbClr val="5B9BF0"/>
                </a:solidFill>
                <a:latin typeface="Calibri" pitchFamily="34" charset="0"/>
                <a:ea typeface="Calibri" pitchFamily="34" charset="-122"/>
                <a:cs typeface="Calibri" pitchFamily="34" charset="-120"/>
              </a:rPr>
              <a:t>VENDOR CHANGELOG</a:t>
            </a:r>
            <a:endParaRPr lang="en-US" sz="1100" dirty="0"/>
          </a:p>
        </p:txBody>
      </p:sp>
      <p:sp>
        <p:nvSpPr>
          <p:cNvPr id="11" name="Text 9"/>
          <p:cNvSpPr txBox="1"/>
          <p:nvPr/>
        </p:nvSpPr>
        <p:spPr>
          <a:xfrm>
            <a:off x="7635240" y="2926080"/>
            <a:ext cx="3749040" cy="411480"/>
          </a:xfrm>
          <a:prstGeom prst="rect">
            <a:avLst/>
          </a:prstGeom>
          <a:noFill/>
          <a:ln/>
        </p:spPr>
        <p:txBody>
          <a:bodyPr wrap="square" lIns="0" tIns="0" rIns="0" bIns="0" rtlCol="0" anchor="ctr"/>
          <a:lstStyle/>
          <a:p>
            <a:pPr indent="0" marL="0">
              <a:buNone/>
            </a:pPr>
            <a:r>
              <a:rPr lang="en-US" sz="1700" dirty="0">
                <a:solidFill>
                  <a:srgbClr val="E9EEF4"/>
                </a:solidFill>
                <a:latin typeface="Calibri" pitchFamily="34" charset="0"/>
                <a:ea typeface="Calibri" pitchFamily="34" charset="-122"/>
                <a:cs typeface="Calibri" pitchFamily="34" charset="-120"/>
              </a:rPr>
              <a:t>"Disabled JNDI message lookups by default"</a:t>
            </a:r>
            <a:endParaRPr lang="en-US" sz="1700" dirty="0"/>
          </a:p>
        </p:txBody>
      </p:sp>
      <p:sp>
        <p:nvSpPr>
          <p:cNvPr id="12" name="Shape 10"/>
          <p:cNvSpPr/>
          <p:nvPr/>
        </p:nvSpPr>
        <p:spPr>
          <a:xfrm>
            <a:off x="7406640" y="3703320"/>
            <a:ext cx="4206240" cy="1005840"/>
          </a:xfrm>
          <a:prstGeom prst="roundRect">
            <a:avLst>
              <a:gd name="adj" fmla="val 10909"/>
            </a:avLst>
          </a:prstGeom>
          <a:solidFill>
            <a:srgbClr val="192737"/>
          </a:solidFill>
          <a:ln w="12700">
            <a:solidFill>
              <a:srgbClr val="2B3E52"/>
            </a:solidFill>
            <a:prstDash val="solid"/>
          </a:ln>
        </p:spPr>
        <p:txBody>
          <a:bodyPr/>
          <a:p/>
        </p:txBody>
      </p:sp>
      <p:sp>
        <p:nvSpPr>
          <p:cNvPr id="13" name="Text 11"/>
          <p:cNvSpPr txBox="1"/>
          <p:nvPr/>
        </p:nvSpPr>
        <p:spPr>
          <a:xfrm>
            <a:off x="7635240" y="3840480"/>
            <a:ext cx="3749040" cy="256032"/>
          </a:xfrm>
          <a:prstGeom prst="rect">
            <a:avLst/>
          </a:prstGeom>
          <a:noFill/>
          <a:ln/>
        </p:spPr>
        <p:txBody>
          <a:bodyPr wrap="square" lIns="0" tIns="0" rIns="0" bIns="0" rtlCol="0" anchor="ctr"/>
          <a:lstStyle/>
          <a:p>
            <a:pPr indent="0" marL="0">
              <a:buNone/>
            </a:pPr>
            <a:r>
              <a:rPr lang="en-US" sz="1100" b="1" spc="200" kern="0" dirty="0">
                <a:solidFill>
                  <a:srgbClr val="E8863A"/>
                </a:solidFill>
                <a:latin typeface="Calibri" pitchFamily="34" charset="0"/>
                <a:ea typeface="Calibri" pitchFamily="34" charset="-122"/>
                <a:cs typeface="Calibri" pitchFamily="34" charset="-120"/>
              </a:rPr>
              <a:t>INTERNAL TICKET</a:t>
            </a:r>
            <a:endParaRPr lang="en-US" sz="1100" dirty="0"/>
          </a:p>
        </p:txBody>
      </p:sp>
      <p:sp>
        <p:nvSpPr>
          <p:cNvPr id="14" name="Text 12"/>
          <p:cNvSpPr txBox="1"/>
          <p:nvPr/>
        </p:nvSpPr>
        <p:spPr>
          <a:xfrm>
            <a:off x="7635240" y="4160520"/>
            <a:ext cx="3749040" cy="411480"/>
          </a:xfrm>
          <a:prstGeom prst="rect">
            <a:avLst/>
          </a:prstGeom>
          <a:noFill/>
          <a:ln/>
        </p:spPr>
        <p:txBody>
          <a:bodyPr wrap="square" lIns="0" tIns="0" rIns="0" bIns="0" rtlCol="0" anchor="ctr"/>
          <a:lstStyle/>
          <a:p>
            <a:pPr indent="0" marL="0">
              <a:buNone/>
            </a:pPr>
            <a:r>
              <a:rPr lang="en-US" sz="1700" dirty="0">
                <a:solidFill>
                  <a:srgbClr val="E9EEF4"/>
                </a:solidFill>
                <a:latin typeface="Calibri" pitchFamily="34" charset="0"/>
                <a:ea typeface="Calibri" pitchFamily="34" charset="-122"/>
                <a:cs typeface="Calibri" pitchFamily="34" charset="-120"/>
              </a:rPr>
              <a:t>2 of 4 clusters unconfirmed</a:t>
            </a:r>
            <a:endParaRPr lang="en-US" sz="1700" dirty="0"/>
          </a:p>
        </p:txBody>
      </p:sp>
      <p:sp>
        <p:nvSpPr>
          <p:cNvPr id="15" name="Text 13"/>
          <p:cNvSpPr txBox="1"/>
          <p:nvPr/>
        </p:nvSpPr>
        <p:spPr>
          <a:xfrm>
            <a:off x="7406640" y="4892040"/>
            <a:ext cx="4206240" cy="411480"/>
          </a:xfrm>
          <a:prstGeom prst="rect">
            <a:avLst/>
          </a:prstGeom>
          <a:noFill/>
          <a:ln/>
        </p:spPr>
        <p:txBody>
          <a:bodyPr wrap="square" lIns="0" tIns="0" rIns="0" bIns="0" rtlCol="0" anchor="ctr"/>
          <a:lstStyle/>
          <a:p>
            <a:pPr algn="ctr" indent="0" marL="0">
              <a:buNone/>
            </a:pPr>
            <a:r>
              <a:rPr lang="en-US" sz="2600" dirty="0">
                <a:solidFill>
                  <a:srgbClr val="9FB0C1"/>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7406640" y="5349240"/>
            <a:ext cx="4206240" cy="777240"/>
          </a:xfrm>
          <a:prstGeom prst="roundRect">
            <a:avLst>
              <a:gd name="adj" fmla="val 14118"/>
            </a:avLst>
          </a:prstGeom>
          <a:solidFill>
            <a:srgbClr val="E8863A"/>
          </a:solidFill>
          <a:ln w="12700">
            <a:solidFill>
              <a:srgbClr val="E8863A"/>
            </a:solidFill>
            <a:prstDash val="solid"/>
          </a:ln>
        </p:spPr>
        <p:txBody>
          <a:bodyPr/>
          <a:p/>
        </p:txBody>
      </p:sp>
      <p:sp>
        <p:nvSpPr>
          <p:cNvPr id="17" name="Text 15"/>
          <p:cNvSpPr txBox="1"/>
          <p:nvPr/>
        </p:nvSpPr>
        <p:spPr>
          <a:xfrm>
            <a:off x="7406640" y="5349240"/>
            <a:ext cx="4206240" cy="777240"/>
          </a:xfrm>
          <a:prstGeom prst="rect">
            <a:avLst/>
          </a:prstGeom>
          <a:noFill/>
          <a:ln/>
        </p:spPr>
        <p:txBody>
          <a:bodyPr wrap="square" lIns="0" tIns="0" rIns="0" bIns="0" rtlCol="0" anchor="ctr"/>
          <a:lstStyle/>
          <a:p>
            <a:pPr algn="ctr" indent="0" marL="0">
              <a:buNone/>
            </a:pPr>
            <a:r>
              <a:rPr lang="en-US" sz="2200" b="1" dirty="0">
                <a:solidFill>
                  <a:srgbClr val="1B2733"/>
                </a:solidFill>
                <a:latin typeface="Calibri" pitchFamily="34" charset="0"/>
                <a:ea typeface="Calibri" pitchFamily="34" charset="-122"/>
                <a:cs typeface="Calibri" pitchFamily="34" charset="-120"/>
              </a:rPr>
              <a:t>Decision: unresolved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A8530F"/>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868680"/>
            <a:ext cx="11064240" cy="1188720"/>
          </a:xfrm>
          <a:prstGeom prst="rect">
            <a:avLst/>
          </a:prstGeom>
          <a:noFill/>
          <a:ln/>
        </p:spPr>
        <p:txBody>
          <a:bodyPr wrap="square" lIns="0" tIns="0" rIns="0" bIns="0" rtlCol="0" anchor="t"/>
          <a:lstStyle/>
          <a:p>
            <a:pPr indent="0" marL="0">
              <a:buNone/>
            </a:pPr>
            <a:r>
              <a:rPr lang="en-US" sz="3600" b="1" dirty="0">
                <a:solidFill>
                  <a:srgbClr val="1B2733"/>
                </a:solidFill>
                <a:latin typeface="Cambria" pitchFamily="34" charset="0"/>
                <a:ea typeface="Cambria" pitchFamily="34" charset="-122"/>
                <a:cs typeface="Cambria" pitchFamily="34" charset="-120"/>
              </a:rPr>
              <a:t>A fix is announced. Who checks that it reached your systems?</a:t>
            </a:r>
            <a:endParaRPr lang="en-US" sz="3600" dirty="0"/>
          </a:p>
        </p:txBody>
      </p:sp>
      <p:sp>
        <p:nvSpPr>
          <p:cNvPr id="4" name="Shape 2"/>
          <p:cNvSpPr/>
          <p:nvPr/>
        </p:nvSpPr>
        <p:spPr>
          <a:xfrm>
            <a:off x="548640" y="2331720"/>
            <a:ext cx="3566160" cy="2743200"/>
          </a:xfrm>
          <a:prstGeom prst="roundRect">
            <a:avLst>
              <a:gd name="adj" fmla="val 400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5" name="Shape 3"/>
          <p:cNvSpPr/>
          <p:nvPr/>
        </p:nvSpPr>
        <p:spPr>
          <a:xfrm>
            <a:off x="822960" y="2606040"/>
            <a:ext cx="640080" cy="640080"/>
          </a:xfrm>
          <a:prstGeom prst="ellipse">
            <a:avLst/>
          </a:prstGeom>
          <a:solidFill>
            <a:srgbClr val="101A24"/>
          </a:solidFill>
          <a:ln w="12700">
            <a:solidFill>
              <a:srgbClr val="101A24"/>
            </a:solidFill>
            <a:prstDash val="solid"/>
          </a:ln>
        </p:spPr>
        <p:txBody>
          <a:bodyPr/>
          <a:p/>
        </p:txBody>
      </p:sp>
      <p:pic>
        <p:nvPicPr>
          <p:cNvPr id="6" name="Image 0" descr="preencoded.png">    </p:cNvPr>
          <p:cNvPicPr>
            <a:picLocks noChangeAspect="1"/>
          </p:cNvPicPr>
          <p:nvPr/>
        </p:nvPicPr>
        <p:blipFill>
          <a:blip r:embed="rId1"/>
          <a:stretch>
            <a:fillRect/>
          </a:stretch>
        </p:blipFill>
        <p:spPr>
          <a:xfrm>
            <a:off x="995782" y="2778862"/>
            <a:ext cx="294437" cy="294437"/>
          </a:xfrm>
          <a:prstGeom prst="rect">
            <a:avLst/>
          </a:prstGeom>
        </p:spPr>
      </p:pic>
      <p:sp>
        <p:nvSpPr>
          <p:cNvPr id="7" name="Text 4"/>
          <p:cNvSpPr txBox="1"/>
          <p:nvPr/>
        </p:nvSpPr>
        <p:spPr>
          <a:xfrm>
            <a:off x="1600200" y="2606040"/>
            <a:ext cx="2377440" cy="64008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Public database (NVD)</a:t>
            </a:r>
            <a:endParaRPr lang="en-US" sz="1800" dirty="0"/>
          </a:p>
        </p:txBody>
      </p:sp>
      <p:sp>
        <p:nvSpPr>
          <p:cNvPr id="8" name="Text 5"/>
          <p:cNvSpPr txBox="1"/>
          <p:nvPr/>
        </p:nvSpPr>
        <p:spPr>
          <a:xfrm>
            <a:off x="822960" y="3429000"/>
            <a:ext cx="3017520" cy="6400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Describes the flaw and rates its severity.</a:t>
            </a:r>
            <a:endParaRPr lang="en-US" sz="1500" dirty="0"/>
          </a:p>
        </p:txBody>
      </p:sp>
      <p:sp>
        <p:nvSpPr>
          <p:cNvPr id="9" name="Text 6"/>
          <p:cNvSpPr txBox="1"/>
          <p:nvPr/>
        </p:nvSpPr>
        <p:spPr>
          <a:xfrm>
            <a:off x="822960" y="4114800"/>
            <a:ext cx="3017520" cy="822960"/>
          </a:xfrm>
          <a:prstGeom prst="rect">
            <a:avLst/>
          </a:prstGeom>
          <a:noFill/>
          <a:ln/>
        </p:spPr>
        <p:txBody>
          <a:bodyPr wrap="square" lIns="0" tIns="0" rIns="0" bIns="0" rtlCol="0" anchor="t"/>
          <a:lstStyle/>
          <a:p>
            <a:pPr indent="0" marL="0">
              <a:buNone/>
            </a:pPr>
            <a:r>
              <a:rPr lang="en-US" sz="1500" b="1" dirty="0">
                <a:solidFill>
                  <a:srgbClr val="A8530F"/>
                </a:solidFill>
                <a:latin typeface="Calibri" pitchFamily="34" charset="0"/>
                <a:ea typeface="Calibri" pitchFamily="34" charset="-122"/>
                <a:cs typeface="Calibri" pitchFamily="34" charset="-120"/>
              </a:rPr>
              <a:t>Blind spot: </a:t>
            </a:r>
            <a:pPr indent="0" marL="0">
              <a:buNone/>
            </a:pPr>
            <a:r>
              <a:rPr lang="en-US" sz="1500" dirty="0">
                <a:solidFill>
                  <a:srgbClr val="1B2733"/>
                </a:solidFill>
                <a:latin typeface="Calibri" pitchFamily="34" charset="0"/>
                <a:ea typeface="Calibri" pitchFamily="34" charset="-122"/>
                <a:cs typeface="Calibri" pitchFamily="34" charset="-120"/>
              </a:rPr>
              <a:t>Says nothing about your systems.</a:t>
            </a:r>
            <a:endParaRPr lang="en-US" sz="1500" dirty="0"/>
          </a:p>
        </p:txBody>
      </p:sp>
      <p:sp>
        <p:nvSpPr>
          <p:cNvPr id="10" name="Shape 7"/>
          <p:cNvSpPr/>
          <p:nvPr/>
        </p:nvSpPr>
        <p:spPr>
          <a:xfrm>
            <a:off x="4297680" y="2331720"/>
            <a:ext cx="3566160" cy="2743200"/>
          </a:xfrm>
          <a:prstGeom prst="roundRect">
            <a:avLst>
              <a:gd name="adj" fmla="val 400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11" name="Shape 8"/>
          <p:cNvSpPr/>
          <p:nvPr/>
        </p:nvSpPr>
        <p:spPr>
          <a:xfrm>
            <a:off x="4572000" y="2606040"/>
            <a:ext cx="640080" cy="640080"/>
          </a:xfrm>
          <a:prstGeom prst="ellipse">
            <a:avLst/>
          </a:prstGeom>
          <a:solidFill>
            <a:srgbClr val="101A24"/>
          </a:solidFill>
          <a:ln w="12700">
            <a:solidFill>
              <a:srgbClr val="101A24"/>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744822" y="2778862"/>
            <a:ext cx="294437" cy="294437"/>
          </a:xfrm>
          <a:prstGeom prst="rect">
            <a:avLst/>
          </a:prstGeom>
        </p:spPr>
      </p:pic>
      <p:sp>
        <p:nvSpPr>
          <p:cNvPr id="13" name="Text 9"/>
          <p:cNvSpPr txBox="1"/>
          <p:nvPr/>
        </p:nvSpPr>
        <p:spPr>
          <a:xfrm>
            <a:off x="5349240" y="2606040"/>
            <a:ext cx="2377440" cy="64008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Vendor changelog</a:t>
            </a:r>
            <a:endParaRPr lang="en-US" sz="1800" dirty="0"/>
          </a:p>
        </p:txBody>
      </p:sp>
      <p:sp>
        <p:nvSpPr>
          <p:cNvPr id="14" name="Text 10"/>
          <p:cNvSpPr txBox="1"/>
          <p:nvPr/>
        </p:nvSpPr>
        <p:spPr>
          <a:xfrm>
            <a:off x="4572000" y="3429000"/>
            <a:ext cx="3017520" cy="6400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Announces a fix, often with conditions attached.</a:t>
            </a:r>
            <a:endParaRPr lang="en-US" sz="1500" dirty="0"/>
          </a:p>
        </p:txBody>
      </p:sp>
      <p:sp>
        <p:nvSpPr>
          <p:cNvPr id="15" name="Text 11"/>
          <p:cNvSpPr txBox="1"/>
          <p:nvPr/>
        </p:nvSpPr>
        <p:spPr>
          <a:xfrm>
            <a:off x="4572000" y="4114800"/>
            <a:ext cx="3017520" cy="822960"/>
          </a:xfrm>
          <a:prstGeom prst="rect">
            <a:avLst/>
          </a:prstGeom>
          <a:noFill/>
          <a:ln/>
        </p:spPr>
        <p:txBody>
          <a:bodyPr wrap="square" lIns="0" tIns="0" rIns="0" bIns="0" rtlCol="0" anchor="t"/>
          <a:lstStyle/>
          <a:p>
            <a:pPr indent="0" marL="0">
              <a:buNone/>
            </a:pPr>
            <a:r>
              <a:rPr lang="en-US" sz="1500" b="1" dirty="0">
                <a:solidFill>
                  <a:srgbClr val="A8530F"/>
                </a:solidFill>
                <a:latin typeface="Calibri" pitchFamily="34" charset="0"/>
                <a:ea typeface="Calibri" pitchFamily="34" charset="-122"/>
                <a:cs typeface="Calibri" pitchFamily="34" charset="-120"/>
              </a:rPr>
              <a:t>Blind spot: </a:t>
            </a:r>
            <a:pPr indent="0" marL="0">
              <a:buNone/>
            </a:pPr>
            <a:r>
              <a:rPr lang="en-US" sz="1500" dirty="0">
                <a:solidFill>
                  <a:srgbClr val="1B2733"/>
                </a:solidFill>
                <a:latin typeface="Calibri" pitchFamily="34" charset="0"/>
                <a:ea typeface="Calibri" pitchFamily="34" charset="-122"/>
                <a:cs typeface="Calibri" pitchFamily="34" charset="-120"/>
              </a:rPr>
              <a:t>Its claim covers the product, not your deployment.</a:t>
            </a:r>
            <a:endParaRPr lang="en-US" sz="1500" dirty="0"/>
          </a:p>
        </p:txBody>
      </p:sp>
      <p:sp>
        <p:nvSpPr>
          <p:cNvPr id="16" name="Shape 12"/>
          <p:cNvSpPr/>
          <p:nvPr/>
        </p:nvSpPr>
        <p:spPr>
          <a:xfrm>
            <a:off x="8046720" y="2331720"/>
            <a:ext cx="3566160" cy="2743200"/>
          </a:xfrm>
          <a:prstGeom prst="roundRect">
            <a:avLst>
              <a:gd name="adj" fmla="val 400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17" name="Shape 13"/>
          <p:cNvSpPr/>
          <p:nvPr/>
        </p:nvSpPr>
        <p:spPr>
          <a:xfrm>
            <a:off x="8321040" y="2606040"/>
            <a:ext cx="640080" cy="640080"/>
          </a:xfrm>
          <a:prstGeom prst="ellipse">
            <a:avLst/>
          </a:prstGeom>
          <a:solidFill>
            <a:srgbClr val="101A24"/>
          </a:solidFill>
          <a:ln w="12700">
            <a:solidFill>
              <a:srgbClr val="101A24"/>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8493862" y="2778862"/>
            <a:ext cx="294437" cy="294437"/>
          </a:xfrm>
          <a:prstGeom prst="rect">
            <a:avLst/>
          </a:prstGeom>
        </p:spPr>
      </p:pic>
      <p:sp>
        <p:nvSpPr>
          <p:cNvPr id="19" name="Text 14"/>
          <p:cNvSpPr txBox="1"/>
          <p:nvPr/>
        </p:nvSpPr>
        <p:spPr>
          <a:xfrm>
            <a:off x="9098280" y="2606040"/>
            <a:ext cx="2377440" cy="64008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Internal ticket</a:t>
            </a:r>
            <a:endParaRPr lang="en-US" sz="1800" dirty="0"/>
          </a:p>
        </p:txBody>
      </p:sp>
      <p:sp>
        <p:nvSpPr>
          <p:cNvPr id="20" name="Text 15"/>
          <p:cNvSpPr txBox="1"/>
          <p:nvPr/>
        </p:nvSpPr>
        <p:spPr>
          <a:xfrm>
            <a:off x="8321040" y="3429000"/>
            <a:ext cx="3017520" cy="6400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Records what your team really checked.</a:t>
            </a:r>
            <a:endParaRPr lang="en-US" sz="1500" dirty="0"/>
          </a:p>
        </p:txBody>
      </p:sp>
      <p:sp>
        <p:nvSpPr>
          <p:cNvPr id="21" name="Text 16"/>
          <p:cNvSpPr txBox="1"/>
          <p:nvPr/>
        </p:nvSpPr>
        <p:spPr>
          <a:xfrm>
            <a:off x="8321040" y="4114800"/>
            <a:ext cx="3017520" cy="822960"/>
          </a:xfrm>
          <a:prstGeom prst="rect">
            <a:avLst/>
          </a:prstGeom>
          <a:noFill/>
          <a:ln/>
        </p:spPr>
        <p:txBody>
          <a:bodyPr wrap="square" lIns="0" tIns="0" rIns="0" bIns="0" rtlCol="0" anchor="t"/>
          <a:lstStyle/>
          <a:p>
            <a:pPr indent="0" marL="0">
              <a:buNone/>
            </a:pPr>
            <a:r>
              <a:rPr lang="en-US" sz="1500" b="1" dirty="0">
                <a:solidFill>
                  <a:srgbClr val="A8530F"/>
                </a:solidFill>
                <a:latin typeface="Calibri" pitchFamily="34" charset="0"/>
                <a:ea typeface="Calibri" pitchFamily="34" charset="-122"/>
                <a:cs typeface="Calibri" pitchFamily="34" charset="-120"/>
              </a:rPr>
              <a:t>Blind spot: </a:t>
            </a:r>
            <a:pPr indent="0" marL="0">
              <a:buNone/>
            </a:pPr>
            <a:r>
              <a:rPr lang="en-US" sz="1500" dirty="0">
                <a:solidFill>
                  <a:srgbClr val="1B2733"/>
                </a:solidFill>
                <a:latin typeface="Calibri" pitchFamily="34" charset="0"/>
                <a:ea typeface="Calibri" pitchFamily="34" charset="-122"/>
                <a:cs typeface="Calibri" pitchFamily="34" charset="-120"/>
              </a:rPr>
              <a:t>Often partial, pending, or silent.</a:t>
            </a:r>
            <a:endParaRPr lang="en-US" sz="1500" dirty="0"/>
          </a:p>
        </p:txBody>
      </p:sp>
      <p:sp>
        <p:nvSpPr>
          <p:cNvPr id="22" name="Text 17"/>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800" dirty="0">
                <a:solidFill>
                  <a:srgbClr val="1B2733"/>
                </a:solidFill>
                <a:latin typeface="Calibri" pitchFamily="34" charset="0"/>
                <a:ea typeface="Calibri" pitchFamily="34" charset="-122"/>
                <a:cs typeface="Calibri" pitchFamily="34" charset="-120"/>
              </a:rPr>
              <a:t>Equifax 2017: attackers used an Apache Struts flaw (CVE-2017-5638) for which a fix had already been published.</a:t>
            </a:r>
            <a:endParaRPr lang="en-US" sz="1800" dirty="0"/>
          </a:p>
        </p:txBody>
      </p:sp>
      <p:sp>
        <p:nvSpPr>
          <p:cNvPr id="23"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4A5868"/>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24" name="Text 1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4A5868"/>
                </a:solidFill>
                <a:latin typeface="Calibri" pitchFamily="34" charset="0"/>
                <a:ea typeface="Calibri" pitchFamily="34" charset="-122"/>
                <a:cs typeface="Calibri" pitchFamily="34" charset="-120"/>
              </a:rPr>
              <a:t>2 / 13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A8530F"/>
                </a:solidFill>
                <a:latin typeface="Calibri" pitchFamily="34" charset="0"/>
                <a:ea typeface="Calibri" pitchFamily="34" charset="-122"/>
                <a:cs typeface="Calibri" pitchFamily="34" charset="-120"/>
              </a:rPr>
              <a:t>WHO IT IS FOR</a:t>
            </a:r>
            <a:endParaRPr lang="en-US" sz="1200" dirty="0"/>
          </a:p>
        </p:txBody>
      </p:sp>
      <p:sp>
        <p:nvSpPr>
          <p:cNvPr id="3" name="Text 1"/>
          <p:cNvSpPr txBox="1"/>
          <p:nvPr/>
        </p:nvSpPr>
        <p:spPr>
          <a:xfrm>
            <a:off x="548640" y="868680"/>
            <a:ext cx="11064240" cy="914400"/>
          </a:xfrm>
          <a:prstGeom prst="rect">
            <a:avLst/>
          </a:prstGeom>
          <a:noFill/>
          <a:ln/>
        </p:spPr>
        <p:txBody>
          <a:bodyPr wrap="square" lIns="0" tIns="0" rIns="0" bIns="0" rtlCol="0" anchor="t"/>
          <a:lstStyle/>
          <a:p>
            <a:pPr indent="0" marL="0">
              <a:buNone/>
            </a:pPr>
            <a:r>
              <a:rPr lang="en-US" sz="3600" b="1" dirty="0">
                <a:solidFill>
                  <a:srgbClr val="1B2733"/>
                </a:solidFill>
                <a:latin typeface="Cambria" pitchFamily="34" charset="0"/>
                <a:ea typeface="Cambria" pitchFamily="34" charset="-122"/>
                <a:cs typeface="Cambria" pitchFamily="34" charset="-120"/>
              </a:rPr>
              <a:t>Analysts who must decide what to patch first</a:t>
            </a:r>
            <a:endParaRPr lang="en-US" sz="3600" dirty="0"/>
          </a:p>
        </p:txBody>
      </p:sp>
      <p:sp>
        <p:nvSpPr>
          <p:cNvPr id="4" name="Shape 2"/>
          <p:cNvSpPr/>
          <p:nvPr/>
        </p:nvSpPr>
        <p:spPr>
          <a:xfrm>
            <a:off x="548640" y="2103120"/>
            <a:ext cx="5120640" cy="3840480"/>
          </a:xfrm>
          <a:prstGeom prst="roundRect">
            <a:avLst>
              <a:gd name="adj" fmla="val 2857"/>
            </a:avLst>
          </a:prstGeom>
          <a:solidFill>
            <a:srgbClr val="101A24"/>
          </a:solidFill>
          <a:ln w="12700">
            <a:solidFill>
              <a:srgbClr val="101A24"/>
            </a:solidFill>
            <a:prstDash val="solid"/>
          </a:ln>
          <a:effectLst>
            <a:outerShdw sx="100000" sy="100000" kx="0" ky="0" algn="bl" rotWithShape="0" blurRad="101600" dist="25400" dir="5400000">
              <a:srgbClr val="000000">
                <a:alpha val="12000"/>
              </a:srgbClr>
            </a:outerShdw>
          </a:effectLst>
        </p:spPr>
        <p:txBody>
          <a:bodyPr/>
          <a:p/>
        </p:txBody>
      </p:sp>
      <p:sp>
        <p:nvSpPr>
          <p:cNvPr id="5" name="Shape 3"/>
          <p:cNvSpPr/>
          <p:nvPr/>
        </p:nvSpPr>
        <p:spPr>
          <a:xfrm>
            <a:off x="868680" y="2423160"/>
            <a:ext cx="777240" cy="777240"/>
          </a:xfrm>
          <a:prstGeom prst="ellipse">
            <a:avLst/>
          </a:prstGeom>
          <a:solidFill>
            <a:srgbClr val="E8863A"/>
          </a:solidFill>
          <a:ln w="12700">
            <a:solidFill>
              <a:srgbClr val="E8863A"/>
            </a:solidFill>
            <a:prstDash val="solid"/>
          </a:ln>
        </p:spPr>
        <p:txBody>
          <a:bodyPr/>
          <a:p/>
        </p:txBody>
      </p:sp>
      <p:pic>
        <p:nvPicPr>
          <p:cNvPr id="6" name="Image 0" descr="preencoded.png">    </p:cNvPr>
          <p:cNvPicPr>
            <a:picLocks noChangeAspect="1"/>
          </p:cNvPicPr>
          <p:nvPr/>
        </p:nvPicPr>
        <p:blipFill>
          <a:blip r:embed="rId1"/>
          <a:stretch>
            <a:fillRect/>
          </a:stretch>
        </p:blipFill>
        <p:spPr>
          <a:xfrm>
            <a:off x="1078535" y="2633015"/>
            <a:ext cx="357530" cy="357530"/>
          </a:xfrm>
          <a:prstGeom prst="rect">
            <a:avLst/>
          </a:prstGeom>
        </p:spPr>
      </p:pic>
      <p:sp>
        <p:nvSpPr>
          <p:cNvPr id="7" name="Text 4"/>
          <p:cNvSpPr txBox="1"/>
          <p:nvPr/>
        </p:nvSpPr>
        <p:spPr>
          <a:xfrm>
            <a:off x="868680" y="3383280"/>
            <a:ext cx="4480560" cy="1005840"/>
          </a:xfrm>
          <a:prstGeom prst="rect">
            <a:avLst/>
          </a:prstGeom>
          <a:noFill/>
          <a:ln/>
        </p:spPr>
        <p:txBody>
          <a:bodyPr wrap="square" lIns="0" tIns="0" rIns="0" bIns="0" rtlCol="0" anchor="t"/>
          <a:lstStyle/>
          <a:p>
            <a:pPr indent="0" marL="0">
              <a:buNone/>
            </a:pPr>
            <a:r>
              <a:rPr lang="en-US" sz="2400" b="1" dirty="0">
                <a:solidFill>
                  <a:srgbClr val="E9EEF4"/>
                </a:solidFill>
                <a:latin typeface="Cambria" pitchFamily="34" charset="0"/>
                <a:ea typeface="Cambria" pitchFamily="34" charset="-122"/>
                <a:cs typeface="Cambria" pitchFamily="34" charset="-120"/>
              </a:rPr>
              <a:t>Vulnerability analysts and IT operations leads</a:t>
            </a:r>
            <a:endParaRPr lang="en-US" sz="2400" dirty="0"/>
          </a:p>
        </p:txBody>
      </p:sp>
      <p:sp>
        <p:nvSpPr>
          <p:cNvPr id="8" name="Text 5"/>
          <p:cNvSpPr txBox="1"/>
          <p:nvPr/>
        </p:nvSpPr>
        <p:spPr>
          <a:xfrm>
            <a:off x="868680" y="4526280"/>
            <a:ext cx="4480560" cy="1188720"/>
          </a:xfrm>
          <a:prstGeom prst="rect">
            <a:avLst/>
          </a:prstGeom>
          <a:noFill/>
          <a:ln/>
        </p:spPr>
        <p:txBody>
          <a:bodyPr wrap="square" lIns="0" tIns="0" rIns="0" bIns="0" rtlCol="0" anchor="t"/>
          <a:lstStyle/>
          <a:p>
            <a:pPr indent="0" marL="0">
              <a:buNone/>
            </a:pPr>
            <a:r>
              <a:rPr lang="en-US" sz="1600" i="1" dirty="0">
                <a:solidFill>
                  <a:srgbClr val="9FB0C1"/>
                </a:solidFill>
                <a:latin typeface="Calibri" pitchFamily="34" charset="0"/>
                <a:ea typeface="Calibri" pitchFamily="34" charset="-122"/>
                <a:cs typeface="Calibri" pitchFamily="34" charset="-120"/>
              </a:rPr>
              <a:t>Their question, every time a flaw is announced: “Is this really resolved here, and what do I do first?”</a:t>
            </a:r>
            <a:endParaRPr lang="en-US" sz="1600" dirty="0"/>
          </a:p>
        </p:txBody>
      </p:sp>
      <p:sp>
        <p:nvSpPr>
          <p:cNvPr id="9" name="Shape 6"/>
          <p:cNvSpPr/>
          <p:nvPr/>
        </p:nvSpPr>
        <p:spPr>
          <a:xfrm>
            <a:off x="5943600" y="2103120"/>
            <a:ext cx="5669280" cy="1143000"/>
          </a:xfrm>
          <a:prstGeom prst="roundRect">
            <a:avLst>
              <a:gd name="adj" fmla="val 960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10" name="Shape 7"/>
          <p:cNvSpPr/>
          <p:nvPr/>
        </p:nvSpPr>
        <p:spPr>
          <a:xfrm>
            <a:off x="6217920" y="2350008"/>
            <a:ext cx="640080" cy="640080"/>
          </a:xfrm>
          <a:prstGeom prst="ellipse">
            <a:avLst/>
          </a:prstGeom>
          <a:solidFill>
            <a:srgbClr val="1F5FB8"/>
          </a:solidFill>
          <a:ln w="12700">
            <a:solidFill>
              <a:srgbClr val="1F5FB8"/>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6390742" y="2522830"/>
            <a:ext cx="294437" cy="294437"/>
          </a:xfrm>
          <a:prstGeom prst="rect">
            <a:avLst/>
          </a:prstGeom>
        </p:spPr>
      </p:pic>
      <p:sp>
        <p:nvSpPr>
          <p:cNvPr id="12" name="Text 8"/>
          <p:cNvSpPr txBox="1"/>
          <p:nvPr/>
        </p:nvSpPr>
        <p:spPr>
          <a:xfrm>
            <a:off x="7086600" y="2258568"/>
            <a:ext cx="4389120" cy="365760"/>
          </a:xfrm>
          <a:prstGeom prst="rect">
            <a:avLst/>
          </a:prstGeom>
          <a:noFill/>
          <a:ln/>
        </p:spPr>
        <p:txBody>
          <a:bodyPr wrap="square" lIns="0" tIns="0" rIns="0" bIns="0" rtlCol="0" anchor="ctr"/>
          <a:lstStyle/>
          <a:p>
            <a:pPr indent="0" marL="0">
              <a:buNone/>
            </a:pPr>
            <a:r>
              <a:rPr lang="en-US" sz="1700" b="1" dirty="0">
                <a:solidFill>
                  <a:srgbClr val="1B2733"/>
                </a:solidFill>
                <a:latin typeface="Calibri" pitchFamily="34" charset="0"/>
                <a:ea typeface="Calibri" pitchFamily="34" charset="-122"/>
                <a:cs typeface="Calibri" pitchFamily="34" charset="-120"/>
              </a:rPr>
              <a:t>A decision with its evidence</a:t>
            </a:r>
            <a:endParaRPr lang="en-US" sz="1700" dirty="0"/>
          </a:p>
        </p:txBody>
      </p:sp>
      <p:sp>
        <p:nvSpPr>
          <p:cNvPr id="13" name="Text 9"/>
          <p:cNvSpPr txBox="1"/>
          <p:nvPr/>
        </p:nvSpPr>
        <p:spPr>
          <a:xfrm>
            <a:off x="7086600" y="2633472"/>
            <a:ext cx="4389120" cy="502920"/>
          </a:xfrm>
          <a:prstGeom prst="rect">
            <a:avLst/>
          </a:prstGeom>
          <a:noFill/>
          <a:ln/>
        </p:spPr>
        <p:txBody>
          <a:bodyPr wrap="square" lIns="0" tIns="0" rIns="0" bIns="0" rtlCol="0" anchor="t"/>
          <a:lstStyle/>
          <a:p>
            <a:pPr indent="0" marL="0">
              <a:buNone/>
            </a:pPr>
            <a:r>
              <a:rPr lang="en-US" sz="1400" dirty="0">
                <a:solidFill>
                  <a:srgbClr val="4A5868"/>
                </a:solidFill>
                <a:latin typeface="Calibri" pitchFamily="34" charset="0"/>
                <a:ea typeface="Calibri" pitchFamily="34" charset="-122"/>
                <a:cs typeface="Calibri" pitchFamily="34" charset="-120"/>
              </a:rPr>
              <a:t>Resolved or unresolved, and which source said what.</a:t>
            </a:r>
            <a:endParaRPr lang="en-US" sz="1400" dirty="0"/>
          </a:p>
        </p:txBody>
      </p:sp>
      <p:sp>
        <p:nvSpPr>
          <p:cNvPr id="14" name="Shape 10"/>
          <p:cNvSpPr/>
          <p:nvPr/>
        </p:nvSpPr>
        <p:spPr>
          <a:xfrm>
            <a:off x="5943600" y="3429000"/>
            <a:ext cx="5669280" cy="1143000"/>
          </a:xfrm>
          <a:prstGeom prst="roundRect">
            <a:avLst>
              <a:gd name="adj" fmla="val 960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15" name="Shape 11"/>
          <p:cNvSpPr/>
          <p:nvPr/>
        </p:nvSpPr>
        <p:spPr>
          <a:xfrm>
            <a:off x="6217920" y="3675888"/>
            <a:ext cx="640080" cy="640080"/>
          </a:xfrm>
          <a:prstGeom prst="ellipse">
            <a:avLst/>
          </a:prstGeom>
          <a:solidFill>
            <a:srgbClr val="1F5FB8"/>
          </a:solidFill>
          <a:ln w="12700">
            <a:solidFill>
              <a:srgbClr val="1F5FB8"/>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6390742" y="3848710"/>
            <a:ext cx="294437" cy="294437"/>
          </a:xfrm>
          <a:prstGeom prst="rect">
            <a:avLst/>
          </a:prstGeom>
        </p:spPr>
      </p:pic>
      <p:sp>
        <p:nvSpPr>
          <p:cNvPr id="17" name="Text 12"/>
          <p:cNvSpPr txBox="1"/>
          <p:nvPr/>
        </p:nvSpPr>
        <p:spPr>
          <a:xfrm>
            <a:off x="7086600" y="3584448"/>
            <a:ext cx="4389120" cy="365760"/>
          </a:xfrm>
          <a:prstGeom prst="rect">
            <a:avLst/>
          </a:prstGeom>
          <a:noFill/>
          <a:ln/>
        </p:spPr>
        <p:txBody>
          <a:bodyPr wrap="square" lIns="0" tIns="0" rIns="0" bIns="0" rtlCol="0" anchor="ctr"/>
          <a:lstStyle/>
          <a:p>
            <a:pPr indent="0" marL="0">
              <a:buNone/>
            </a:pPr>
            <a:r>
              <a:rPr lang="en-US" sz="1700" b="1" dirty="0">
                <a:solidFill>
                  <a:srgbClr val="1B2733"/>
                </a:solidFill>
                <a:latin typeface="Calibri" pitchFamily="34" charset="0"/>
                <a:ea typeface="Calibri" pitchFamily="34" charset="-122"/>
                <a:cs typeface="Calibri" pitchFamily="34" charset="-120"/>
              </a:rPr>
              <a:t>What would resolve it</a:t>
            </a:r>
            <a:endParaRPr lang="en-US" sz="1700" dirty="0"/>
          </a:p>
        </p:txBody>
      </p:sp>
      <p:sp>
        <p:nvSpPr>
          <p:cNvPr id="18" name="Text 13"/>
          <p:cNvSpPr txBox="1"/>
          <p:nvPr/>
        </p:nvSpPr>
        <p:spPr>
          <a:xfrm>
            <a:off x="7086600" y="3959352"/>
            <a:ext cx="4389120" cy="502920"/>
          </a:xfrm>
          <a:prstGeom prst="rect">
            <a:avLst/>
          </a:prstGeom>
          <a:noFill/>
          <a:ln/>
        </p:spPr>
        <p:txBody>
          <a:bodyPr wrap="square" lIns="0" tIns="0" rIns="0" bIns="0" rtlCol="0" anchor="t"/>
          <a:lstStyle/>
          <a:p>
            <a:pPr indent="0" marL="0">
              <a:buNone/>
            </a:pPr>
            <a:r>
              <a:rPr lang="en-US" sz="1400" dirty="0">
                <a:solidFill>
                  <a:srgbClr val="4A5868"/>
                </a:solidFill>
                <a:latin typeface="Calibri" pitchFamily="34" charset="0"/>
                <a:ea typeface="Calibri" pitchFamily="34" charset="-122"/>
                <a:cs typeface="Calibri" pitchFamily="34" charset="-120"/>
              </a:rPr>
              <a:t>The concrete next check, quoted from the text that raised the doubt.</a:t>
            </a:r>
            <a:endParaRPr lang="en-US" sz="1400" dirty="0"/>
          </a:p>
        </p:txBody>
      </p:sp>
      <p:sp>
        <p:nvSpPr>
          <p:cNvPr id="19" name="Shape 14"/>
          <p:cNvSpPr/>
          <p:nvPr/>
        </p:nvSpPr>
        <p:spPr>
          <a:xfrm>
            <a:off x="5943600" y="4754880"/>
            <a:ext cx="5669280" cy="1143000"/>
          </a:xfrm>
          <a:prstGeom prst="roundRect">
            <a:avLst>
              <a:gd name="adj" fmla="val 960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20" name="Shape 15"/>
          <p:cNvSpPr/>
          <p:nvPr/>
        </p:nvSpPr>
        <p:spPr>
          <a:xfrm>
            <a:off x="6217920" y="5001768"/>
            <a:ext cx="640080" cy="640080"/>
          </a:xfrm>
          <a:prstGeom prst="ellipse">
            <a:avLst/>
          </a:prstGeom>
          <a:solidFill>
            <a:srgbClr val="1F5FB8"/>
          </a:solidFill>
          <a:ln w="12700">
            <a:solidFill>
              <a:srgbClr val="1F5FB8"/>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6390742" y="5174590"/>
            <a:ext cx="294437" cy="294437"/>
          </a:xfrm>
          <a:prstGeom prst="rect">
            <a:avLst/>
          </a:prstGeom>
        </p:spPr>
      </p:pic>
      <p:sp>
        <p:nvSpPr>
          <p:cNvPr id="22" name="Text 16"/>
          <p:cNvSpPr txBox="1"/>
          <p:nvPr/>
        </p:nvSpPr>
        <p:spPr>
          <a:xfrm>
            <a:off x="7086600" y="4910328"/>
            <a:ext cx="4389120" cy="365760"/>
          </a:xfrm>
          <a:prstGeom prst="rect">
            <a:avLst/>
          </a:prstGeom>
          <a:noFill/>
          <a:ln/>
        </p:spPr>
        <p:txBody>
          <a:bodyPr wrap="square" lIns="0" tIns="0" rIns="0" bIns="0" rtlCol="0" anchor="ctr"/>
          <a:lstStyle/>
          <a:p>
            <a:pPr indent="0" marL="0">
              <a:buNone/>
            </a:pPr>
            <a:r>
              <a:rPr lang="en-US" sz="1700" b="1" dirty="0">
                <a:solidFill>
                  <a:srgbClr val="1B2733"/>
                </a:solidFill>
                <a:latin typeface="Calibri" pitchFamily="34" charset="0"/>
                <a:ea typeface="Calibri" pitchFamily="34" charset="-122"/>
                <a:cs typeface="Calibri" pitchFamily="34" charset="-120"/>
              </a:rPr>
              <a:t>A ranked list across cases</a:t>
            </a:r>
            <a:endParaRPr lang="en-US" sz="1700" dirty="0"/>
          </a:p>
        </p:txBody>
      </p:sp>
      <p:sp>
        <p:nvSpPr>
          <p:cNvPr id="23" name="Text 17"/>
          <p:cNvSpPr txBox="1"/>
          <p:nvPr/>
        </p:nvSpPr>
        <p:spPr>
          <a:xfrm>
            <a:off x="7086600" y="5285232"/>
            <a:ext cx="4389120" cy="502920"/>
          </a:xfrm>
          <a:prstGeom prst="rect">
            <a:avLst/>
          </a:prstGeom>
          <a:noFill/>
          <a:ln/>
        </p:spPr>
        <p:txBody>
          <a:bodyPr wrap="square" lIns="0" tIns="0" rIns="0" bIns="0" rtlCol="0" anchor="t"/>
          <a:lstStyle/>
          <a:p>
            <a:pPr indent="0" marL="0">
              <a:buNone/>
            </a:pPr>
            <a:r>
              <a:rPr lang="en-US" sz="1400" dirty="0">
                <a:solidFill>
                  <a:srgbClr val="4A5868"/>
                </a:solidFill>
                <a:latin typeface="Calibri" pitchFamily="34" charset="0"/>
                <a:ea typeface="Calibri" pitchFamily="34" charset="-122"/>
                <a:cs typeface="Calibri" pitchFamily="34" charset="-120"/>
              </a:rPr>
              <a:t>Unresolved, severe or known-exploited first, each with its reason.</a:t>
            </a:r>
            <a:endParaRPr lang="en-US" sz="1400" dirty="0"/>
          </a:p>
        </p:txBody>
      </p:sp>
      <p:sp>
        <p:nvSpPr>
          <p:cNvPr id="24"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4A5868"/>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25" name="Text 1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4A5868"/>
                </a:solidFill>
                <a:latin typeface="Calibri" pitchFamily="34" charset="0"/>
                <a:ea typeface="Calibri" pitchFamily="34" charset="-122"/>
                <a:cs typeface="Calibri" pitchFamily="34" charset="-120"/>
              </a:rPr>
              <a:t>3 / 13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863A"/>
        </a:solidFill>
      </p:bgPr>
    </p:bg>
    <p:spTree>
      <p:nvGrpSpPr>
        <p:cNvPr id="1" name=""/>
        <p:cNvGrpSpPr/>
        <p:nvPr/>
      </p:nvGrpSpPr>
      <p:grpSpPr>
        <a:xfrm>
          <a:off x="0" y="0"/>
          <a:ext cx="0" cy="0"/>
          <a:chOff x="0" y="0"/>
          <a:chExt cx="0" cy="0"/>
        </a:xfrm>
      </p:grpSpPr>
      <p:sp>
        <p:nvSpPr>
          <p:cNvPr id="2" name="Text 0"/>
          <p:cNvSpPr txBox="1"/>
          <p:nvPr/>
        </p:nvSpPr>
        <p:spPr>
          <a:xfrm>
            <a:off x="822960" y="1554480"/>
            <a:ext cx="10515600" cy="2377440"/>
          </a:xfrm>
          <a:prstGeom prst="rect">
            <a:avLst/>
          </a:prstGeom>
          <a:noFill/>
          <a:ln/>
        </p:spPr>
        <p:txBody>
          <a:bodyPr wrap="square" lIns="0" tIns="0" rIns="0" bIns="0" rtlCol="0" anchor="t"/>
          <a:lstStyle/>
          <a:p>
            <a:pPr indent="0" marL="0">
              <a:buNone/>
            </a:pPr>
            <a:r>
              <a:rPr lang="en-US" sz="5400" b="1" dirty="0">
                <a:solidFill>
                  <a:srgbClr val="1B2733"/>
                </a:solidFill>
                <a:latin typeface="Cambria" pitchFamily="34" charset="0"/>
                <a:ea typeface="Cambria" pitchFamily="34" charset="-122"/>
                <a:cs typeface="Cambria" pitchFamily="34" charset="-120"/>
              </a:rPr>
              <a:t>Nothing is "resolved" until your own evidence says so.</a:t>
            </a:r>
            <a:endParaRPr lang="en-US" sz="5400" dirty="0"/>
          </a:p>
        </p:txBody>
      </p:sp>
      <p:sp>
        <p:nvSpPr>
          <p:cNvPr id="3" name="Text 1"/>
          <p:cNvSpPr txBox="1"/>
          <p:nvPr/>
        </p:nvSpPr>
        <p:spPr>
          <a:xfrm>
            <a:off x="822960" y="4206240"/>
            <a:ext cx="8138160" cy="1280160"/>
          </a:xfrm>
          <a:prstGeom prst="rect">
            <a:avLst/>
          </a:prstGeom>
          <a:noFill/>
          <a:ln/>
        </p:spPr>
        <p:txBody>
          <a:bodyPr wrap="square" lIns="0" tIns="0" rIns="0" bIns="0" rtlCol="0" anchor="t"/>
          <a:lstStyle/>
          <a:p>
            <a:pPr indent="0" marL="0">
              <a:buNone/>
            </a:pPr>
            <a:r>
              <a:rPr lang="en-US" sz="2400" dirty="0">
                <a:solidFill>
                  <a:srgbClr val="1B2733"/>
                </a:solidFill>
                <a:latin typeface="Calibri" pitchFamily="34" charset="0"/>
                <a:ea typeface="Calibri" pitchFamily="34" charset="-122"/>
                <a:cs typeface="Calibri" pitchFamily="34" charset="-120"/>
              </a:rPr>
              <a:t>The vendor's claim is checked against the internal ticket, and the internal check has the last word.</a:t>
            </a:r>
            <a:endParaRPr lang="en-US" sz="2400" dirty="0"/>
          </a:p>
        </p:txBody>
      </p:sp>
      <p:sp>
        <p:nvSpPr>
          <p:cNvPr id="4" name="Shape 2"/>
          <p:cNvSpPr/>
          <p:nvPr/>
        </p:nvSpPr>
        <p:spPr>
          <a:xfrm>
            <a:off x="9646920" y="3931920"/>
            <a:ext cx="1737360" cy="1737360"/>
          </a:xfrm>
          <a:prstGeom prst="ellipse">
            <a:avLst/>
          </a:prstGeom>
          <a:solidFill>
            <a:srgbClr val="101A24"/>
          </a:solidFill>
          <a:ln w="12700">
            <a:solidFill>
              <a:srgbClr val="101A24"/>
            </a:solidFill>
            <a:prstDash val="solid"/>
          </a:ln>
        </p:spPr>
        <p:txBody>
          <a:bodyPr/>
          <a:p/>
        </p:txBody>
      </p:sp>
      <p:pic>
        <p:nvPicPr>
          <p:cNvPr id="5" name="Image 0" descr="preencoded.png">    </p:cNvPr>
          <p:cNvPicPr>
            <a:picLocks noChangeAspect="1"/>
          </p:cNvPicPr>
          <p:nvPr/>
        </p:nvPicPr>
        <p:blipFill>
          <a:blip r:embed="rId1"/>
          <a:stretch>
            <a:fillRect/>
          </a:stretch>
        </p:blipFill>
        <p:spPr>
          <a:xfrm>
            <a:off x="10116007" y="4401007"/>
            <a:ext cx="799186" cy="7991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A24"/>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E8863A"/>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600" b="1" dirty="0">
                <a:solidFill>
                  <a:srgbClr val="E9EEF4"/>
                </a:solidFill>
                <a:latin typeface="Cambria" pitchFamily="34" charset="0"/>
                <a:ea typeface="Cambria" pitchFamily="34" charset="-122"/>
                <a:cs typeface="Cambria" pitchFamily="34" charset="-120"/>
              </a:rPr>
              <a:t>Four agents, one rule</a:t>
            </a:r>
            <a:endParaRPr lang="en-US" sz="3600" dirty="0"/>
          </a:p>
        </p:txBody>
      </p:sp>
      <p:sp>
        <p:nvSpPr>
          <p:cNvPr id="4" name="Shape 2"/>
          <p:cNvSpPr/>
          <p:nvPr/>
        </p:nvSpPr>
        <p:spPr>
          <a:xfrm>
            <a:off x="548640" y="1828800"/>
            <a:ext cx="2011680" cy="2651760"/>
          </a:xfrm>
          <a:prstGeom prst="roundRect">
            <a:avLst>
              <a:gd name="adj" fmla="val 5455"/>
            </a:avLst>
          </a:prstGeom>
          <a:solidFill>
            <a:srgbClr val="192737"/>
          </a:solidFill>
          <a:ln w="12700">
            <a:solidFill>
              <a:srgbClr val="2B3E52"/>
            </a:solidFill>
            <a:prstDash val="solid"/>
          </a:ln>
        </p:spPr>
        <p:txBody>
          <a:bodyPr/>
          <a:p/>
        </p:txBody>
      </p:sp>
      <p:sp>
        <p:nvSpPr>
          <p:cNvPr id="5" name="Shape 3"/>
          <p:cNvSpPr/>
          <p:nvPr/>
        </p:nvSpPr>
        <p:spPr>
          <a:xfrm>
            <a:off x="731520" y="2011680"/>
            <a:ext cx="411480" cy="411480"/>
          </a:xfrm>
          <a:prstGeom prst="ellipse">
            <a:avLst/>
          </a:prstGeom>
          <a:solidFill>
            <a:srgbClr val="E8863A"/>
          </a:solidFill>
          <a:ln w="12700">
            <a:solidFill>
              <a:srgbClr val="E8863A"/>
            </a:solidFill>
            <a:prstDash val="solid"/>
          </a:ln>
        </p:spPr>
        <p:txBody>
          <a:bodyPr/>
          <a:p/>
        </p:txBody>
      </p:sp>
      <p:sp>
        <p:nvSpPr>
          <p:cNvPr id="6" name="Text 4"/>
          <p:cNvSpPr txBox="1"/>
          <p:nvPr/>
        </p:nvSpPr>
        <p:spPr>
          <a:xfrm>
            <a:off x="731520" y="2011680"/>
            <a:ext cx="411480" cy="41148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31520" y="2560320"/>
            <a:ext cx="1691640" cy="685800"/>
          </a:xfrm>
          <a:prstGeom prst="rect">
            <a:avLst/>
          </a:prstGeom>
          <a:noFill/>
          <a:ln/>
        </p:spPr>
        <p:txBody>
          <a:bodyPr wrap="square" lIns="0" tIns="0" rIns="0" bIns="0" rtlCol="0" anchor="t"/>
          <a:lstStyle/>
          <a:p>
            <a:pPr indent="0" marL="0">
              <a:buNone/>
            </a:pPr>
            <a:r>
              <a:rPr lang="en-US" sz="1600" b="1" dirty="0">
                <a:solidFill>
                  <a:srgbClr val="E9EEF4"/>
                </a:solidFill>
                <a:latin typeface="Calibri" pitchFamily="34" charset="0"/>
                <a:ea typeface="Calibri" pitchFamily="34" charset="-122"/>
                <a:cs typeface="Calibri" pitchFamily="34" charset="-120"/>
              </a:rPr>
              <a:t>Sources</a:t>
            </a:r>
            <a:endParaRPr lang="en-US" sz="1600" dirty="0"/>
          </a:p>
        </p:txBody>
      </p:sp>
      <p:sp>
        <p:nvSpPr>
          <p:cNvPr id="8" name="Text 6"/>
          <p:cNvSpPr txBox="1"/>
          <p:nvPr/>
        </p:nvSpPr>
        <p:spPr>
          <a:xfrm>
            <a:off x="731520" y="3246120"/>
            <a:ext cx="1691640" cy="1143000"/>
          </a:xfrm>
          <a:prstGeom prst="rect">
            <a:avLst/>
          </a:prstGeom>
          <a:noFill/>
          <a:ln/>
        </p:spPr>
        <p:txBody>
          <a:bodyPr wrap="square" lIns="0" tIns="0" rIns="0" bIns="0" rtlCol="0" anchor="t"/>
          <a:lstStyle/>
          <a:p>
            <a:pPr indent="0" marL="0">
              <a:buNone/>
            </a:pPr>
            <a:r>
              <a:rPr lang="en-US" sz="1400" dirty="0">
                <a:solidFill>
                  <a:srgbClr val="9FB0C1"/>
                </a:solidFill>
                <a:latin typeface="Calibri" pitchFamily="34" charset="0"/>
                <a:ea typeface="Calibri" pitchFamily="34" charset="-122"/>
                <a:cs typeface="Calibri" pitchFamily="34" charset="-120"/>
              </a:rPr>
              <a:t>NVD entry, vendor changelog, internal ticket.</a:t>
            </a:r>
            <a:endParaRPr lang="en-US" sz="1400" dirty="0"/>
          </a:p>
        </p:txBody>
      </p:sp>
      <p:sp>
        <p:nvSpPr>
          <p:cNvPr id="9" name="Text 7"/>
          <p:cNvSpPr txBox="1"/>
          <p:nvPr/>
        </p:nvSpPr>
        <p:spPr>
          <a:xfrm>
            <a:off x="2560320" y="2834640"/>
            <a:ext cx="256032" cy="457200"/>
          </a:xfrm>
          <a:prstGeom prst="rect">
            <a:avLst/>
          </a:prstGeom>
          <a:noFill/>
          <a:ln/>
        </p:spPr>
        <p:txBody>
          <a:bodyPr wrap="square" lIns="0" tIns="0" rIns="0" bIns="0" rtlCol="0" anchor="ctr"/>
          <a:lstStyle/>
          <a:p>
            <a:pPr algn="ctr" indent="0" marL="0">
              <a:buNone/>
            </a:pPr>
            <a:r>
              <a:rPr lang="en-US" sz="2200" dirty="0">
                <a:solidFill>
                  <a:srgbClr val="E8863A"/>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816352" y="1828800"/>
            <a:ext cx="2011680" cy="2651760"/>
          </a:xfrm>
          <a:prstGeom prst="roundRect">
            <a:avLst>
              <a:gd name="adj" fmla="val 5455"/>
            </a:avLst>
          </a:prstGeom>
          <a:solidFill>
            <a:srgbClr val="192737"/>
          </a:solidFill>
          <a:ln w="12700">
            <a:solidFill>
              <a:srgbClr val="2B3E52"/>
            </a:solidFill>
            <a:prstDash val="solid"/>
          </a:ln>
        </p:spPr>
        <p:txBody>
          <a:bodyPr/>
          <a:p/>
        </p:txBody>
      </p:sp>
      <p:sp>
        <p:nvSpPr>
          <p:cNvPr id="11" name="Shape 9"/>
          <p:cNvSpPr/>
          <p:nvPr/>
        </p:nvSpPr>
        <p:spPr>
          <a:xfrm>
            <a:off x="2999232" y="2011680"/>
            <a:ext cx="411480" cy="411480"/>
          </a:xfrm>
          <a:prstGeom prst="ellipse">
            <a:avLst/>
          </a:prstGeom>
          <a:solidFill>
            <a:srgbClr val="E8863A"/>
          </a:solidFill>
          <a:ln w="12700">
            <a:solidFill>
              <a:srgbClr val="E8863A"/>
            </a:solidFill>
            <a:prstDash val="solid"/>
          </a:ln>
        </p:spPr>
        <p:txBody>
          <a:bodyPr/>
          <a:p/>
        </p:txBody>
      </p:sp>
      <p:sp>
        <p:nvSpPr>
          <p:cNvPr id="12" name="Text 10"/>
          <p:cNvSpPr txBox="1"/>
          <p:nvPr/>
        </p:nvSpPr>
        <p:spPr>
          <a:xfrm>
            <a:off x="2999232" y="2011680"/>
            <a:ext cx="411480" cy="41148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999232" y="2560320"/>
            <a:ext cx="1691640" cy="685800"/>
          </a:xfrm>
          <a:prstGeom prst="rect">
            <a:avLst/>
          </a:prstGeom>
          <a:noFill/>
          <a:ln/>
        </p:spPr>
        <p:txBody>
          <a:bodyPr wrap="square" lIns="0" tIns="0" rIns="0" bIns="0" rtlCol="0" anchor="t"/>
          <a:lstStyle/>
          <a:p>
            <a:pPr indent="0" marL="0">
              <a:buNone/>
            </a:pPr>
            <a:r>
              <a:rPr lang="en-US" sz="1600" b="1" dirty="0">
                <a:solidFill>
                  <a:srgbClr val="E9EEF4"/>
                </a:solidFill>
                <a:latin typeface="Calibri" pitchFamily="34" charset="0"/>
                <a:ea typeface="Calibri" pitchFamily="34" charset="-122"/>
                <a:cs typeface="Calibri" pitchFamily="34" charset="-120"/>
              </a:rPr>
              <a:t>SourceMapper</a:t>
            </a:r>
            <a:endParaRPr lang="en-US" sz="1600" dirty="0"/>
          </a:p>
        </p:txBody>
      </p:sp>
      <p:sp>
        <p:nvSpPr>
          <p:cNvPr id="14" name="Text 12"/>
          <p:cNvSpPr txBox="1"/>
          <p:nvPr/>
        </p:nvSpPr>
        <p:spPr>
          <a:xfrm>
            <a:off x="2999232" y="3246120"/>
            <a:ext cx="1691640" cy="1143000"/>
          </a:xfrm>
          <a:prstGeom prst="rect">
            <a:avLst/>
          </a:prstGeom>
          <a:noFill/>
          <a:ln/>
        </p:spPr>
        <p:txBody>
          <a:bodyPr wrap="square" lIns="0" tIns="0" rIns="0" bIns="0" rtlCol="0" anchor="t"/>
          <a:lstStyle/>
          <a:p>
            <a:pPr indent="0" marL="0">
              <a:buNone/>
            </a:pPr>
            <a:r>
              <a:rPr lang="en-US" sz="1400" dirty="0">
                <a:solidFill>
                  <a:srgbClr val="9FB0C1"/>
                </a:solidFill>
                <a:latin typeface="Calibri" pitchFamily="34" charset="0"/>
                <a:ea typeface="Calibri" pitchFamily="34" charset="-122"/>
                <a:cs typeface="Calibri" pitchFamily="34" charset="-120"/>
              </a:rPr>
              <a:t>Rates how certain each source is: rules first, optional language model.</a:t>
            </a:r>
            <a:endParaRPr lang="en-US" sz="1400" dirty="0"/>
          </a:p>
        </p:txBody>
      </p:sp>
      <p:sp>
        <p:nvSpPr>
          <p:cNvPr id="15" name="Text 13"/>
          <p:cNvSpPr txBox="1"/>
          <p:nvPr/>
        </p:nvSpPr>
        <p:spPr>
          <a:xfrm>
            <a:off x="4828032" y="2834640"/>
            <a:ext cx="256032" cy="457200"/>
          </a:xfrm>
          <a:prstGeom prst="rect">
            <a:avLst/>
          </a:prstGeom>
          <a:noFill/>
          <a:ln/>
        </p:spPr>
        <p:txBody>
          <a:bodyPr wrap="square" lIns="0" tIns="0" rIns="0" bIns="0" rtlCol="0" anchor="ctr"/>
          <a:lstStyle/>
          <a:p>
            <a:pPr algn="ctr" indent="0" marL="0">
              <a:buNone/>
            </a:pPr>
            <a:r>
              <a:rPr lang="en-US" sz="2200" dirty="0">
                <a:solidFill>
                  <a:srgbClr val="E8863A"/>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084064" y="1828800"/>
            <a:ext cx="2011680" cy="2651760"/>
          </a:xfrm>
          <a:prstGeom prst="roundRect">
            <a:avLst>
              <a:gd name="adj" fmla="val 5455"/>
            </a:avLst>
          </a:prstGeom>
          <a:solidFill>
            <a:srgbClr val="192737"/>
          </a:solidFill>
          <a:ln w="12700">
            <a:solidFill>
              <a:srgbClr val="2B3E52"/>
            </a:solidFill>
            <a:prstDash val="solid"/>
          </a:ln>
        </p:spPr>
        <p:txBody>
          <a:bodyPr/>
          <a:p/>
        </p:txBody>
      </p:sp>
      <p:sp>
        <p:nvSpPr>
          <p:cNvPr id="17" name="Shape 15"/>
          <p:cNvSpPr/>
          <p:nvPr/>
        </p:nvSpPr>
        <p:spPr>
          <a:xfrm>
            <a:off x="5266944" y="2011680"/>
            <a:ext cx="411480" cy="411480"/>
          </a:xfrm>
          <a:prstGeom prst="ellipse">
            <a:avLst/>
          </a:prstGeom>
          <a:solidFill>
            <a:srgbClr val="E8863A"/>
          </a:solidFill>
          <a:ln w="12700">
            <a:solidFill>
              <a:srgbClr val="E8863A"/>
            </a:solidFill>
            <a:prstDash val="solid"/>
          </a:ln>
        </p:spPr>
        <p:txBody>
          <a:bodyPr/>
          <a:p/>
        </p:txBody>
      </p:sp>
      <p:sp>
        <p:nvSpPr>
          <p:cNvPr id="18" name="Text 16"/>
          <p:cNvSpPr txBox="1"/>
          <p:nvPr/>
        </p:nvSpPr>
        <p:spPr>
          <a:xfrm>
            <a:off x="5266944" y="2011680"/>
            <a:ext cx="411480" cy="41148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5266944" y="2560320"/>
            <a:ext cx="1691640" cy="685800"/>
          </a:xfrm>
          <a:prstGeom prst="rect">
            <a:avLst/>
          </a:prstGeom>
          <a:noFill/>
          <a:ln/>
        </p:spPr>
        <p:txBody>
          <a:bodyPr wrap="square" lIns="0" tIns="0" rIns="0" bIns="0" rtlCol="0" anchor="t"/>
          <a:lstStyle/>
          <a:p>
            <a:pPr indent="0" marL="0">
              <a:buNone/>
            </a:pPr>
            <a:r>
              <a:rPr lang="en-US" sz="1600" b="1" dirty="0">
                <a:solidFill>
                  <a:srgbClr val="E9EEF4"/>
                </a:solidFill>
                <a:latin typeface="Calibri" pitchFamily="34" charset="0"/>
                <a:ea typeface="Calibri" pitchFamily="34" charset="-122"/>
                <a:cs typeface="Calibri" pitchFamily="34" charset="-120"/>
              </a:rPr>
              <a:t>World Model</a:t>
            </a:r>
            <a:endParaRPr lang="en-US" sz="1600" dirty="0"/>
          </a:p>
        </p:txBody>
      </p:sp>
      <p:sp>
        <p:nvSpPr>
          <p:cNvPr id="20" name="Text 18"/>
          <p:cNvSpPr txBox="1"/>
          <p:nvPr/>
        </p:nvSpPr>
        <p:spPr>
          <a:xfrm>
            <a:off x="5266944" y="3246120"/>
            <a:ext cx="1691640" cy="1143000"/>
          </a:xfrm>
          <a:prstGeom prst="rect">
            <a:avLst/>
          </a:prstGeom>
          <a:noFill/>
          <a:ln/>
        </p:spPr>
        <p:txBody>
          <a:bodyPr wrap="square" lIns="0" tIns="0" rIns="0" bIns="0" rtlCol="0" anchor="t"/>
          <a:lstStyle/>
          <a:p>
            <a:pPr indent="0" marL="0">
              <a:buNone/>
            </a:pPr>
            <a:r>
              <a:rPr lang="en-US" sz="1400" dirty="0">
                <a:solidFill>
                  <a:srgbClr val="9FB0C1"/>
                </a:solidFill>
                <a:latin typeface="Calibri" pitchFamily="34" charset="0"/>
                <a:ea typeface="Calibri" pitchFamily="34" charset="-122"/>
                <a:cs typeface="Calibri" pitchFamily="34" charset="-120"/>
              </a:rPr>
              <a:t>Meterless engine keeps facts with provenance and settles conflicts by policy.</a:t>
            </a:r>
            <a:endParaRPr lang="en-US" sz="1400" dirty="0"/>
          </a:p>
        </p:txBody>
      </p:sp>
      <p:sp>
        <p:nvSpPr>
          <p:cNvPr id="21" name="Text 19"/>
          <p:cNvSpPr txBox="1"/>
          <p:nvPr/>
        </p:nvSpPr>
        <p:spPr>
          <a:xfrm>
            <a:off x="7095744" y="2834640"/>
            <a:ext cx="256032" cy="457200"/>
          </a:xfrm>
          <a:prstGeom prst="rect">
            <a:avLst/>
          </a:prstGeom>
          <a:noFill/>
          <a:ln/>
        </p:spPr>
        <p:txBody>
          <a:bodyPr wrap="square" lIns="0" tIns="0" rIns="0" bIns="0" rtlCol="0" anchor="ctr"/>
          <a:lstStyle/>
          <a:p>
            <a:pPr algn="ctr" indent="0" marL="0">
              <a:buNone/>
            </a:pPr>
            <a:r>
              <a:rPr lang="en-US" sz="2200" dirty="0">
                <a:solidFill>
                  <a:srgbClr val="E8863A"/>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7351776" y="1828800"/>
            <a:ext cx="2011680" cy="2651760"/>
          </a:xfrm>
          <a:prstGeom prst="roundRect">
            <a:avLst>
              <a:gd name="adj" fmla="val 5455"/>
            </a:avLst>
          </a:prstGeom>
          <a:solidFill>
            <a:srgbClr val="192737"/>
          </a:solidFill>
          <a:ln w="12700">
            <a:solidFill>
              <a:srgbClr val="2B3E52"/>
            </a:solidFill>
            <a:prstDash val="solid"/>
          </a:ln>
        </p:spPr>
        <p:txBody>
          <a:bodyPr/>
          <a:p/>
        </p:txBody>
      </p:sp>
      <p:sp>
        <p:nvSpPr>
          <p:cNvPr id="23" name="Shape 21"/>
          <p:cNvSpPr/>
          <p:nvPr/>
        </p:nvSpPr>
        <p:spPr>
          <a:xfrm>
            <a:off x="7534656" y="2011680"/>
            <a:ext cx="411480" cy="411480"/>
          </a:xfrm>
          <a:prstGeom prst="ellipse">
            <a:avLst/>
          </a:prstGeom>
          <a:solidFill>
            <a:srgbClr val="E8863A"/>
          </a:solidFill>
          <a:ln w="12700">
            <a:solidFill>
              <a:srgbClr val="E8863A"/>
            </a:solidFill>
            <a:prstDash val="solid"/>
          </a:ln>
        </p:spPr>
        <p:txBody>
          <a:bodyPr/>
          <a:p/>
        </p:txBody>
      </p:sp>
      <p:sp>
        <p:nvSpPr>
          <p:cNvPr id="24" name="Text 22"/>
          <p:cNvSpPr txBox="1"/>
          <p:nvPr/>
        </p:nvSpPr>
        <p:spPr>
          <a:xfrm>
            <a:off x="7534656" y="2011680"/>
            <a:ext cx="411480" cy="41148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7534656" y="2560320"/>
            <a:ext cx="1691640" cy="685800"/>
          </a:xfrm>
          <a:prstGeom prst="rect">
            <a:avLst/>
          </a:prstGeom>
          <a:noFill/>
          <a:ln/>
        </p:spPr>
        <p:txBody>
          <a:bodyPr wrap="square" lIns="0" tIns="0" rIns="0" bIns="0" rtlCol="0" anchor="t"/>
          <a:lstStyle/>
          <a:p>
            <a:pPr indent="0" marL="0">
              <a:buNone/>
            </a:pPr>
            <a:r>
              <a:rPr lang="en-US" sz="1600" b="1" dirty="0">
                <a:solidFill>
                  <a:srgbClr val="E9EEF4"/>
                </a:solidFill>
                <a:latin typeface="Calibri" pitchFamily="34" charset="0"/>
                <a:ea typeface="Calibri" pitchFamily="34" charset="-122"/>
                <a:cs typeface="Calibri" pitchFamily="34" charset="-120"/>
              </a:rPr>
              <a:t>Reconciler + Challenger</a:t>
            </a:r>
            <a:endParaRPr lang="en-US" sz="1600" dirty="0"/>
          </a:p>
        </p:txBody>
      </p:sp>
      <p:sp>
        <p:nvSpPr>
          <p:cNvPr id="26" name="Text 24"/>
          <p:cNvSpPr txBox="1"/>
          <p:nvPr/>
        </p:nvSpPr>
        <p:spPr>
          <a:xfrm>
            <a:off x="7534656" y="3246120"/>
            <a:ext cx="1691640" cy="1143000"/>
          </a:xfrm>
          <a:prstGeom prst="rect">
            <a:avLst/>
          </a:prstGeom>
          <a:noFill/>
          <a:ln/>
        </p:spPr>
        <p:txBody>
          <a:bodyPr wrap="square" lIns="0" tIns="0" rIns="0" bIns="0" rtlCol="0" anchor="t"/>
          <a:lstStyle/>
          <a:p>
            <a:pPr indent="0" marL="0">
              <a:buNone/>
            </a:pPr>
            <a:r>
              <a:rPr lang="en-US" sz="1400" dirty="0">
                <a:solidFill>
                  <a:srgbClr val="9FB0C1"/>
                </a:solidFill>
                <a:latin typeface="Calibri" pitchFamily="34" charset="0"/>
                <a:ea typeface="Calibri" pitchFamily="34" charset="-122"/>
                <a:cs typeface="Calibri" pitchFamily="34" charset="-120"/>
              </a:rPr>
              <a:t>Draft, challenge, revise: never resolved on the vendor's word alone.</a:t>
            </a:r>
            <a:endParaRPr lang="en-US" sz="1400" dirty="0"/>
          </a:p>
        </p:txBody>
      </p:sp>
      <p:sp>
        <p:nvSpPr>
          <p:cNvPr id="27" name="Text 25"/>
          <p:cNvSpPr txBox="1"/>
          <p:nvPr/>
        </p:nvSpPr>
        <p:spPr>
          <a:xfrm>
            <a:off x="9363456" y="2834640"/>
            <a:ext cx="256032" cy="457200"/>
          </a:xfrm>
          <a:prstGeom prst="rect">
            <a:avLst/>
          </a:prstGeom>
          <a:noFill/>
          <a:ln/>
        </p:spPr>
        <p:txBody>
          <a:bodyPr wrap="square" lIns="0" tIns="0" rIns="0" bIns="0" rtlCol="0" anchor="ctr"/>
          <a:lstStyle/>
          <a:p>
            <a:pPr algn="ctr" indent="0" marL="0">
              <a:buNone/>
            </a:pPr>
            <a:r>
              <a:rPr lang="en-US" sz="2200" dirty="0">
                <a:solidFill>
                  <a:srgbClr val="E8863A"/>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619488" y="1828800"/>
            <a:ext cx="2011680" cy="2651760"/>
          </a:xfrm>
          <a:prstGeom prst="roundRect">
            <a:avLst>
              <a:gd name="adj" fmla="val 5455"/>
            </a:avLst>
          </a:prstGeom>
          <a:solidFill>
            <a:srgbClr val="192737"/>
          </a:solidFill>
          <a:ln w="12700">
            <a:solidFill>
              <a:srgbClr val="2B3E52"/>
            </a:solidFill>
            <a:prstDash val="solid"/>
          </a:ln>
        </p:spPr>
        <p:txBody>
          <a:bodyPr/>
          <a:p/>
        </p:txBody>
      </p:sp>
      <p:sp>
        <p:nvSpPr>
          <p:cNvPr id="29" name="Shape 27"/>
          <p:cNvSpPr/>
          <p:nvPr/>
        </p:nvSpPr>
        <p:spPr>
          <a:xfrm>
            <a:off x="9802368" y="2011680"/>
            <a:ext cx="411480" cy="411480"/>
          </a:xfrm>
          <a:prstGeom prst="ellipse">
            <a:avLst/>
          </a:prstGeom>
          <a:solidFill>
            <a:srgbClr val="E8863A"/>
          </a:solidFill>
          <a:ln w="12700">
            <a:solidFill>
              <a:srgbClr val="E8863A"/>
            </a:solidFill>
            <a:prstDash val="solid"/>
          </a:ln>
        </p:spPr>
        <p:txBody>
          <a:bodyPr/>
          <a:p/>
        </p:txBody>
      </p:sp>
      <p:sp>
        <p:nvSpPr>
          <p:cNvPr id="30" name="Text 28"/>
          <p:cNvSpPr txBox="1"/>
          <p:nvPr/>
        </p:nvSpPr>
        <p:spPr>
          <a:xfrm>
            <a:off x="9802368" y="2011680"/>
            <a:ext cx="411480" cy="41148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9802368" y="2560320"/>
            <a:ext cx="1691640" cy="685800"/>
          </a:xfrm>
          <a:prstGeom prst="rect">
            <a:avLst/>
          </a:prstGeom>
          <a:noFill/>
          <a:ln/>
        </p:spPr>
        <p:txBody>
          <a:bodyPr wrap="square" lIns="0" tIns="0" rIns="0" bIns="0" rtlCol="0" anchor="t"/>
          <a:lstStyle/>
          <a:p>
            <a:pPr indent="0" marL="0">
              <a:buNone/>
            </a:pPr>
            <a:r>
              <a:rPr lang="en-US" sz="1600" b="1" dirty="0">
                <a:solidFill>
                  <a:srgbClr val="E9EEF4"/>
                </a:solidFill>
                <a:latin typeface="Calibri" pitchFamily="34" charset="0"/>
                <a:ea typeface="Calibri" pitchFamily="34" charset="-122"/>
                <a:cs typeface="Calibri" pitchFamily="34" charset="-120"/>
              </a:rPr>
              <a:t>Reporter</a:t>
            </a:r>
            <a:endParaRPr lang="en-US" sz="1600" dirty="0"/>
          </a:p>
        </p:txBody>
      </p:sp>
      <p:sp>
        <p:nvSpPr>
          <p:cNvPr id="32" name="Text 30"/>
          <p:cNvSpPr txBox="1"/>
          <p:nvPr/>
        </p:nvSpPr>
        <p:spPr>
          <a:xfrm>
            <a:off x="9802368" y="3246120"/>
            <a:ext cx="1691640" cy="1143000"/>
          </a:xfrm>
          <a:prstGeom prst="rect">
            <a:avLst/>
          </a:prstGeom>
          <a:noFill/>
          <a:ln/>
        </p:spPr>
        <p:txBody>
          <a:bodyPr wrap="square" lIns="0" tIns="0" rIns="0" bIns="0" rtlCol="0" anchor="t"/>
          <a:lstStyle/>
          <a:p>
            <a:pPr indent="0" marL="0">
              <a:buNone/>
            </a:pPr>
            <a:r>
              <a:rPr lang="en-US" sz="1400" dirty="0">
                <a:solidFill>
                  <a:srgbClr val="9FB0C1"/>
                </a:solidFill>
                <a:latin typeface="Calibri" pitchFamily="34" charset="0"/>
                <a:ea typeface="Calibri" pitchFamily="34" charset="-122"/>
                <a:cs typeface="Calibri" pitchFamily="34" charset="-120"/>
              </a:rPr>
              <a:t>Decision, evidence trail, what would resolve it, triage rank.</a:t>
            </a:r>
            <a:endParaRPr lang="en-US" sz="1400" dirty="0"/>
          </a:p>
        </p:txBody>
      </p:sp>
      <p:sp>
        <p:nvSpPr>
          <p:cNvPr id="33" name="Shape 31"/>
          <p:cNvSpPr/>
          <p:nvPr/>
        </p:nvSpPr>
        <p:spPr>
          <a:xfrm>
            <a:off x="548640" y="4754880"/>
            <a:ext cx="11064240" cy="548640"/>
          </a:xfrm>
          <a:prstGeom prst="roundRect">
            <a:avLst>
              <a:gd name="adj" fmla="val 16667"/>
            </a:avLst>
          </a:prstGeom>
          <a:solidFill>
            <a:srgbClr val="101A24"/>
          </a:solidFill>
          <a:ln w="19050">
            <a:solidFill>
              <a:srgbClr val="2B3E52"/>
            </a:solidFill>
            <a:prstDash val="dash"/>
          </a:ln>
        </p:spPr>
        <p:txBody>
          <a:bodyPr/>
          <a:p/>
        </p:txBody>
      </p:sp>
      <p:sp>
        <p:nvSpPr>
          <p:cNvPr id="34" name="Text 32"/>
          <p:cNvSpPr txBox="1"/>
          <p:nvPr/>
        </p:nvSpPr>
        <p:spPr>
          <a:xfrm>
            <a:off x="777240" y="4754880"/>
            <a:ext cx="10607040" cy="548640"/>
          </a:xfrm>
          <a:prstGeom prst="rect">
            <a:avLst/>
          </a:prstGeom>
          <a:noFill/>
          <a:ln/>
        </p:spPr>
        <p:txBody>
          <a:bodyPr wrap="square" lIns="0" tIns="0" rIns="0" bIns="0" rtlCol="0" anchor="ctr"/>
          <a:lstStyle/>
          <a:p>
            <a:pPr indent="0" marL="0">
              <a:buNone/>
            </a:pPr>
            <a:r>
              <a:rPr lang="en-US" sz="1400" b="1" dirty="0">
                <a:solidFill>
                  <a:srgbClr val="E9EEF4"/>
                </a:solidFill>
                <a:latin typeface="Calibri" pitchFamily="34" charset="0"/>
                <a:ea typeface="Calibri" pitchFamily="34" charset="-122"/>
                <a:cs typeface="Calibri" pitchFamily="34" charset="-120"/>
              </a:rPr>
              <a:t>Data layer: Zetaris. The three sources are REST tables joined by a SQL view; the tool reads cases with SQL. Files stay as fallback.</a:t>
            </a:r>
            <a:pPr indent="0" marL="0">
              <a:buNone/>
            </a:pPr>
            <a:endParaRPr lang="en-US" sz="1400" dirty="0"/>
          </a:p>
        </p:txBody>
      </p:sp>
      <p:sp>
        <p:nvSpPr>
          <p:cNvPr id="35" name="Shape 33"/>
          <p:cNvSpPr/>
          <p:nvPr/>
        </p:nvSpPr>
        <p:spPr>
          <a:xfrm>
            <a:off x="548640" y="5440680"/>
            <a:ext cx="11064240" cy="548640"/>
          </a:xfrm>
          <a:prstGeom prst="roundRect">
            <a:avLst>
              <a:gd name="adj" fmla="val 16667"/>
            </a:avLst>
          </a:prstGeom>
          <a:solidFill>
            <a:srgbClr val="101A24"/>
          </a:solidFill>
          <a:ln w="19050">
            <a:solidFill>
              <a:srgbClr val="2B3E52"/>
            </a:solidFill>
            <a:prstDash val="dash"/>
          </a:ln>
        </p:spPr>
        <p:txBody>
          <a:bodyPr/>
          <a:p/>
        </p:txBody>
      </p:sp>
      <p:sp>
        <p:nvSpPr>
          <p:cNvPr id="36" name="Text 34"/>
          <p:cNvSpPr txBox="1"/>
          <p:nvPr/>
        </p:nvSpPr>
        <p:spPr>
          <a:xfrm>
            <a:off x="777240" y="5440680"/>
            <a:ext cx="10607040" cy="548640"/>
          </a:xfrm>
          <a:prstGeom prst="rect">
            <a:avLst/>
          </a:prstGeom>
          <a:noFill/>
          <a:ln/>
        </p:spPr>
        <p:txBody>
          <a:bodyPr wrap="square" lIns="0" tIns="0" rIns="0" bIns="0" rtlCol="0" anchor="ctr"/>
          <a:lstStyle/>
          <a:p>
            <a:pPr indent="0" marL="0">
              <a:buNone/>
            </a:pPr>
            <a:r>
              <a:rPr lang="en-US" sz="1400" b="1" dirty="0">
                <a:solidFill>
                  <a:srgbClr val="E9EEF4"/>
                </a:solidFill>
                <a:latin typeface="Calibri" pitchFamily="34" charset="0"/>
                <a:ea typeface="Calibri" pitchFamily="34" charset="-122"/>
                <a:cs typeface="Calibri" pitchFamily="34" charset="-120"/>
              </a:rPr>
              <a:t>Model layer: rule-based by default; Nemotron 3.5 lightning (NVIDIA API) measured; Meterless Runtime provider tested on a stand-in only</a:t>
            </a:r>
            <a:pPr indent="0" marL="0">
              <a:buNone/>
            </a:pPr>
            <a:endParaRPr lang="en-US" sz="1400" dirty="0"/>
          </a:p>
        </p:txBody>
      </p:sp>
      <p:sp>
        <p:nvSpPr>
          <p:cNvPr id="37" name="Text 3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38" name="Text 36"/>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9FB0C1"/>
                </a:solidFill>
                <a:latin typeface="Calibri" pitchFamily="34" charset="0"/>
                <a:ea typeface="Calibri" pitchFamily="34" charset="-122"/>
                <a:cs typeface="Calibri" pitchFamily="34" charset="-120"/>
              </a:rPr>
              <a:t>5 / 13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A24"/>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E8863A"/>
                </a:solidFill>
                <a:latin typeface="Calibri" pitchFamily="34" charset="0"/>
                <a:ea typeface="Calibri" pitchFamily="34" charset="-122"/>
                <a:cs typeface="Calibri" pitchFamily="34" charset="-120"/>
              </a:rPr>
              <a:t>PRODUCT: TRIAGE</a:t>
            </a:r>
            <a:endParaRPr lang="en-US" sz="1200" dirty="0"/>
          </a:p>
        </p:txBody>
      </p:sp>
      <p:sp>
        <p:nvSpPr>
          <p:cNvPr id="3" name="Text 1"/>
          <p:cNvSpPr txBox="1"/>
          <p:nvPr/>
        </p:nvSpPr>
        <p:spPr>
          <a:xfrm>
            <a:off x="548640" y="868680"/>
            <a:ext cx="11064240" cy="822960"/>
          </a:xfrm>
          <a:prstGeom prst="rect">
            <a:avLst/>
          </a:prstGeom>
          <a:noFill/>
          <a:ln/>
        </p:spPr>
        <p:txBody>
          <a:bodyPr wrap="square" lIns="0" tIns="0" rIns="0" bIns="0" rtlCol="0" anchor="t"/>
          <a:lstStyle/>
          <a:p>
            <a:pPr indent="0" marL="0">
              <a:buNone/>
            </a:pPr>
            <a:r>
              <a:rPr lang="en-US" sz="3600" b="1" dirty="0">
                <a:solidFill>
                  <a:srgbClr val="E9EEF4"/>
                </a:solidFill>
                <a:latin typeface="Cambria" pitchFamily="34" charset="0"/>
                <a:ea typeface="Cambria" pitchFamily="34" charset="-122"/>
                <a:cs typeface="Cambria" pitchFamily="34" charset="-120"/>
              </a:rPr>
              <a:t>Which case first? A ranked list, with the reason</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548640"/>
                <a:gridCol w="1737360"/>
                <a:gridCol w="1645920"/>
                <a:gridCol w="1371600"/>
                <a:gridCol w="5760720"/>
              </a:tblGrid>
              <a:tr h="457200">
                <a:tc>
                  <a:txBody>
                    <a:bodyPr/>
                    <a:lstStyle/>
                    <a:p>
                      <a:pPr indent="0" marL="0">
                        <a:buNone/>
                      </a:pPr>
                      <a:r>
                        <a:rPr lang="en-US" sz="1300" b="1" dirty="0">
                          <a:solidFill>
                            <a:srgbClr val="E9EEF4"/>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c>
                  <a:txBody>
                    <a:bodyPr/>
                    <a:lstStyle/>
                    <a:p>
                      <a:pPr indent="0" marL="0">
                        <a:buNone/>
                      </a:pPr>
                      <a:r>
                        <a:rPr lang="en-US" sz="1300" b="1" dirty="0">
                          <a:solidFill>
                            <a:srgbClr val="E9EEF4"/>
                          </a:solidFill>
                          <a:latin typeface="Calibri" pitchFamily="34" charset="0"/>
                          <a:ea typeface="Calibri" pitchFamily="34" charset="-122"/>
                          <a:cs typeface="Calibri" pitchFamily="34" charset="-120"/>
                        </a:rPr>
                        <a:t>CVE</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c>
                  <a:txBody>
                    <a:bodyPr/>
                    <a:lstStyle/>
                    <a:p>
                      <a:pPr indent="0" marL="0">
                        <a:buNone/>
                      </a:pPr>
                      <a:r>
                        <a:rPr lang="en-US" sz="1300" b="1" dirty="0">
                          <a:solidFill>
                            <a:srgbClr val="E9EEF4"/>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c>
                  <a:txBody>
                    <a:bodyPr/>
                    <a:lstStyle/>
                    <a:p>
                      <a:pPr indent="0" marL="0">
                        <a:buNone/>
                      </a:pPr>
                      <a:r>
                        <a:rPr lang="en-US" sz="1300" b="1" dirty="0">
                          <a:solidFill>
                            <a:srgbClr val="E9EEF4"/>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c>
                  <a:txBody>
                    <a:bodyPr/>
                    <a:lstStyle/>
                    <a:p>
                      <a:pPr indent="0" marL="0">
                        <a:buNone/>
                      </a:pPr>
                      <a:r>
                        <a:rPr lang="en-US" sz="1300" b="1" dirty="0">
                          <a:solidFill>
                            <a:srgbClr val="E9EEF4"/>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r>
              <a:tr h="457200">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CVE-2021-44228</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CRITICAL 10.0</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b="1" dirty="0">
                          <a:solidFill>
                            <a:srgbClr val="E8863A"/>
                          </a:solidFill>
                          <a:latin typeface="Calibri" pitchFamily="34" charset="0"/>
                          <a:ea typeface="Calibri" pitchFamily="34" charset="-122"/>
                          <a:cs typeface="Calibri" pitchFamily="34" charset="-120"/>
                        </a:rPr>
                        <a:t>unresolved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EXPLOITED; internal: unconfirmed item; vendor: carries an exception</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457200">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CVE-2017-5638</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CRITICAL 9.8</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b="1" dirty="0">
                          <a:solidFill>
                            <a:srgbClr val="E8863A"/>
                          </a:solidFill>
                          <a:latin typeface="Calibri" pitchFamily="34" charset="0"/>
                          <a:ea typeface="Calibri" pitchFamily="34" charset="-122"/>
                          <a:cs typeface="Calibri" pitchFamily="34" charset="-120"/>
                        </a:rPr>
                        <a:t>unresolved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EXPLOITED; internal: unconfirmed item</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457200">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CVE-2014-0160</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HIGH 7.5</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b="1" dirty="0">
                          <a:solidFill>
                            <a:srgbClr val="E8863A"/>
                          </a:solidFill>
                          <a:latin typeface="Calibri" pitchFamily="34" charset="0"/>
                          <a:ea typeface="Calibri" pitchFamily="34" charset="-122"/>
                          <a:cs typeface="Calibri" pitchFamily="34" charset="-120"/>
                        </a:rPr>
                        <a:t>unresolved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EXPLOITED; internal: work still pending</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457200">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CVE-2024-7002</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HIGH 7.5</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b="1" dirty="0">
                          <a:solidFill>
                            <a:srgbClr val="E8863A"/>
                          </a:solidFill>
                          <a:latin typeface="Calibri" pitchFamily="34" charset="0"/>
                          <a:ea typeface="Calibri" pitchFamily="34" charset="-122"/>
                          <a:cs typeface="Calibri" pitchFamily="34" charset="-120"/>
                        </a:rPr>
                        <a:t>unresolved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EXPLOITED (simulated feed); vendor: no vendor statement</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457200">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CVE-2024-8888</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CRITICAL 9.3</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b="1" dirty="0">
                          <a:solidFill>
                            <a:srgbClr val="E8863A"/>
                          </a:solidFill>
                          <a:latin typeface="Calibri" pitchFamily="34" charset="0"/>
                          <a:ea typeface="Calibri" pitchFamily="34" charset="-122"/>
                          <a:cs typeface="Calibri" pitchFamily="34" charset="-120"/>
                        </a:rPr>
                        <a:t>unresolved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internal: unconfirmed item; vendor: carries an exception</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457200">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CVE-2023-0004</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HIGH 7.4</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b="1" dirty="0">
                          <a:solidFill>
                            <a:srgbClr val="E8863A"/>
                          </a:solidFill>
                          <a:latin typeface="Calibri" pitchFamily="34" charset="0"/>
                          <a:ea typeface="Calibri" pitchFamily="34" charset="-122"/>
                          <a:cs typeface="Calibri" pitchFamily="34" charset="-120"/>
                        </a:rPr>
                        <a:t>unresolved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vendor: claim broader than backed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457200">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C3350"/>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CVE-2022-22965</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C3350"/>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CRITICAL 9.8</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C3350"/>
                    </a:solidFill>
                  </a:tcPr>
                </a:tc>
                <a:tc>
                  <a:txBody>
                    <a:bodyPr/>
                    <a:lstStyle/>
                    <a:p>
                      <a:pPr indent="0" marL="0">
                        <a:buNone/>
                      </a:pPr>
                      <a:r>
                        <a:rPr lang="en-US" sz="1300" b="1" dirty="0">
                          <a:solidFill>
                            <a:srgbClr val="5B9BF0"/>
                          </a:solidFill>
                          <a:latin typeface="Calibri" pitchFamily="34" charset="0"/>
                          <a:ea typeface="Calibri" pitchFamily="34" charset="-122"/>
                          <a:cs typeface="Calibri" pitchFamily="34" charset="-120"/>
                        </a:rPr>
                        <a:t>resolved</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C3350"/>
                    </a:solidFill>
                  </a:tcPr>
                </a:tc>
                <a:tc>
                  <a:txBody>
                    <a:bodyPr/>
                    <a:lstStyle/>
                    <a:p>
                      <a:pPr indent="0" marL="0">
                        <a:buNone/>
                      </a:pPr>
                      <a:r>
                        <a:rPr lang="en-US" sz="1300" dirty="0">
                          <a:solidFill>
                            <a:srgbClr val="E9EEF4"/>
                          </a:solidFill>
                          <a:latin typeface="Calibri" pitchFamily="34" charset="0"/>
                          <a:ea typeface="Calibri" pitchFamily="34" charset="-122"/>
                          <a:cs typeface="Calibri" pitchFamily="34" charset="-120"/>
                        </a:rPr>
                        <a:t>vendor claim and internal evidence agree</a:t>
                      </a:r>
                      <a:endParaRPr lang="en-US" sz="1300" dirty="0">
                        <a:latin typeface="Calibri" charset="0"/>
                        <a:ea typeface="Calibri" charset="0"/>
                        <a:cs typeface="Calibri" charset="0"/>
                      </a:endParaRPr>
                    </a:p>
                  </a:txBody>
                  <a:tcPr marL="109728" marR="109728" marT="36576" marB="36576"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C3350"/>
                    </a:solidFill>
                  </a:tcPr>
                </a:tc>
              </a:tr>
            </a:tbl>
          </a:graphicData>
        </a:graphic>
      </p:graphicFrame>
      <p:sp>
        <p:nvSpPr>
          <p:cNvPr id="5" name="Text 2"/>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200" dirty="0">
                <a:solidFill>
                  <a:srgbClr val="9FB0C1"/>
                </a:solidFill>
                <a:latin typeface="Calibri" pitchFamily="34" charset="0"/>
                <a:ea typeface="Calibri" pitchFamily="34" charset="-122"/>
                <a:cs typeface="Calibri" pitchFamily="34" charset="-120"/>
              </a:rPr>
              <a:t>Real output of python3 main.py on the 14 sample cases; ranks 6 to 8 and 11 to 14 not shown. Rule: unresolved and (severe or known to be exploited) first, resolved last. Tickets are synthetic.</a:t>
            </a:r>
            <a:endParaRPr lang="en-US" sz="1200" dirty="0"/>
          </a:p>
        </p:txBody>
      </p:sp>
      <p:sp>
        <p:nvSpPr>
          <p:cNvPr id="6"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7" name="Text 4"/>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9FB0C1"/>
                </a:solidFill>
                <a:latin typeface="Calibri" pitchFamily="34" charset="0"/>
                <a:ea typeface="Calibri" pitchFamily="34" charset="-122"/>
                <a:cs typeface="Calibri" pitchFamily="34" charset="-120"/>
              </a:rPr>
              <a:t>6 / 13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A24"/>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E8863A"/>
                </a:solidFill>
                <a:latin typeface="Calibri" pitchFamily="34" charset="0"/>
                <a:ea typeface="Calibri" pitchFamily="34" charset="-122"/>
                <a:cs typeface="Calibri" pitchFamily="34" charset="-120"/>
              </a:rPr>
              <a:t>PRODUCT: EXPLAIN WHY</a:t>
            </a:r>
            <a:endParaRPr lang="en-US" sz="1200" dirty="0"/>
          </a:p>
        </p:txBody>
      </p:sp>
      <p:sp>
        <p:nvSpPr>
          <p:cNvPr id="3" name="Text 1"/>
          <p:cNvSpPr txBox="1"/>
          <p:nvPr/>
        </p:nvSpPr>
        <p:spPr>
          <a:xfrm>
            <a:off x="548640" y="868680"/>
            <a:ext cx="11064240" cy="822960"/>
          </a:xfrm>
          <a:prstGeom prst="rect">
            <a:avLst/>
          </a:prstGeom>
          <a:noFill/>
          <a:ln/>
        </p:spPr>
        <p:txBody>
          <a:bodyPr wrap="square" lIns="0" tIns="0" rIns="0" bIns="0" rtlCol="0" anchor="t"/>
          <a:lstStyle/>
          <a:p>
            <a:pPr indent="0" marL="0">
              <a:buNone/>
            </a:pPr>
            <a:r>
              <a:rPr lang="en-US" sz="3600" b="1" dirty="0">
                <a:solidFill>
                  <a:srgbClr val="E9EEF4"/>
                </a:solidFill>
                <a:latin typeface="Cambria" pitchFamily="34" charset="0"/>
                <a:ea typeface="Cambria" pitchFamily="34" charset="-122"/>
                <a:cs typeface="Cambria" pitchFamily="34" charset="-120"/>
              </a:rPr>
              <a:t>Every answer shows its evidence and what is missing</a:t>
            </a:r>
            <a:endParaRPr lang="en-US" sz="3600" dirty="0"/>
          </a:p>
        </p:txBody>
      </p:sp>
      <p:sp>
        <p:nvSpPr>
          <p:cNvPr id="4" name="Shape 2"/>
          <p:cNvSpPr/>
          <p:nvPr/>
        </p:nvSpPr>
        <p:spPr>
          <a:xfrm>
            <a:off x="548640" y="1828800"/>
            <a:ext cx="6949440" cy="4206240"/>
          </a:xfrm>
          <a:prstGeom prst="roundRect">
            <a:avLst>
              <a:gd name="adj" fmla="val 2609"/>
            </a:avLst>
          </a:prstGeom>
          <a:solidFill>
            <a:srgbClr val="0B121A"/>
          </a:solidFill>
          <a:ln w="12700">
            <a:solidFill>
              <a:srgbClr val="2B3E52"/>
            </a:solidFill>
            <a:prstDash val="solid"/>
          </a:ln>
        </p:spPr>
        <p:txBody>
          <a:bodyPr/>
          <a:p/>
        </p:txBody>
      </p:sp>
      <p:sp>
        <p:nvSpPr>
          <p:cNvPr id="5" name="Text 3"/>
          <p:cNvSpPr txBox="1"/>
          <p:nvPr/>
        </p:nvSpPr>
        <p:spPr>
          <a:xfrm>
            <a:off x="777240" y="2011680"/>
            <a:ext cx="6492240" cy="3840480"/>
          </a:xfrm>
          <a:prstGeom prst="rect">
            <a:avLst/>
          </a:prstGeom>
          <a:noFill/>
          <a:ln/>
        </p:spPr>
        <p:txBody>
          <a:bodyPr wrap="square" lIns="0" tIns="0" rIns="0" bIns="0" rtlCol="0" anchor="t"/>
          <a:lstStyle/>
          <a:p>
            <a:pPr indent="0" marL="0">
              <a:spcAft>
                <a:spcPts val="800"/>
              </a:spcAft>
              <a:buNone/>
            </a:pPr>
            <a:r>
              <a:rPr lang="en-US" sz="1300" dirty="0">
                <a:solidFill>
                  <a:srgbClr val="E9EEF4"/>
                </a:solidFill>
                <a:latin typeface="Courier New" pitchFamily="34" charset="0"/>
                <a:ea typeface="Courier New" pitchFamily="34" charset="-122"/>
                <a:cs typeface="Courier New" pitchFamily="34" charset="-120"/>
              </a:rPr>
              <a:t>CVE-2021-44228   baseline CRITICAL (CVSS 10.0)</a:t>
            </a:r>
            <a:endParaRPr lang="en-US" sz="1300" dirty="0"/>
          </a:p>
          <a:p>
            <a:pPr indent="0" marL="0">
              <a:spcAft>
                <a:spcPts val="800"/>
              </a:spcAft>
              <a:buNone/>
            </a:pPr>
            <a:r>
              <a:rPr lang="en-US" sz="1300" dirty="0">
                <a:solidFill>
                  <a:srgbClr val="E8863A"/>
                </a:solidFill>
                <a:latin typeface="Courier New" pitchFamily="34" charset="0"/>
                <a:ea typeface="Courier New" pitchFamily="34" charset="-122"/>
                <a:cs typeface="Courier New" pitchFamily="34" charset="-120"/>
              </a:rPr>
              <a:t>Final assessment: CRITICAL - NOT downgraded, internal evidence insufficient</a:t>
            </a:r>
            <a:endParaRPr lang="en-US" sz="1300" dirty="0"/>
          </a:p>
          <a:p>
            <a:pPr indent="0" marL="0">
              <a:spcAft>
                <a:spcPts val="800"/>
              </a:spcAft>
              <a:buNone/>
            </a:pPr>
            <a:r>
              <a:rPr lang="en-US" sz="1300" dirty="0">
                <a:solidFill>
                  <a:srgbClr val="E9EEF4"/>
                </a:solidFill>
                <a:latin typeface="Courier New" pitchFamily="34" charset="0"/>
                <a:ea typeface="Courier New" pitchFamily="34" charset="-122"/>
                <a:cs typeface="Courier New" pitchFamily="34" charset="-120"/>
              </a:rPr>
              <a:t>Confidence: low - unresolved, human review required</a:t>
            </a:r>
            <a:endParaRPr lang="en-US" sz="1300" dirty="0"/>
          </a:p>
          <a:p>
            <a:pPr indent="0" marL="0">
              <a:spcAft>
                <a:spcPts val="800"/>
              </a:spcAft>
              <a:buNone/>
            </a:pPr>
            <a:r>
              <a:rPr lang="en-US" sz="1300" dirty="0">
                <a:solidFill>
                  <a:srgbClr val="E9EEF4"/>
                </a:solidFill>
                <a:latin typeface="Courier New" pitchFamily="34" charset="0"/>
                <a:ea typeface="Courier New" pitchFamily="34" charset="-122"/>
                <a:cs typeface="Courier New" pitchFamily="34" charset="-120"/>
              </a:rPr>
              <a:t> </a:t>
            </a:r>
            <a:endParaRPr lang="en-US" sz="1300" dirty="0"/>
          </a:p>
          <a:p>
            <a:pPr indent="0" marL="0">
              <a:spcAft>
                <a:spcPts val="800"/>
              </a:spcAft>
              <a:buNone/>
            </a:pPr>
            <a:r>
              <a:rPr lang="en-US" sz="1300" dirty="0">
                <a:solidFill>
                  <a:srgbClr val="9FB0C1"/>
                </a:solidFill>
                <a:latin typeface="Courier New" pitchFamily="34" charset="0"/>
                <a:ea typeface="Courier New" pitchFamily="34" charset="-122"/>
                <a:cs typeface="Courier New" pitchFamily="34" charset="-120"/>
              </a:rPr>
              <a:t>--- WHAT WOULD RESOLVE THIS ---</a:t>
            </a:r>
            <a:endParaRPr lang="en-US" sz="1300" dirty="0"/>
          </a:p>
          <a:p>
            <a:pPr indent="0" marL="0">
              <a:spcAft>
                <a:spcPts val="800"/>
              </a:spcAft>
              <a:buNone/>
            </a:pPr>
            <a:r>
              <a:rPr lang="en-US" sz="1300" dirty="0">
                <a:solidFill>
                  <a:srgbClr val="E9EEF4"/>
                </a:solidFill>
                <a:latin typeface="Courier New" pitchFamily="34" charset="0"/>
                <a:ea typeface="Courier New" pitchFamily="34" charset="-122"/>
                <a:cs typeface="Courier New" pitchFamily="34" charset="-120"/>
              </a:rPr>
              <a:t>1. Internal: the text itself says something is unconfirmed ('...lookup setting on those two clusters is unconfirmed as of this ticket.'). Verify that item directly.</a:t>
            </a:r>
            <a:endParaRPr lang="en-US" sz="1300" dirty="0"/>
          </a:p>
          <a:p>
            <a:pPr indent="0" marL="0">
              <a:spcAft>
                <a:spcPts val="800"/>
              </a:spcAft>
              <a:buNone/>
            </a:pPr>
            <a:r>
              <a:rPr lang="en-US" sz="1300" dirty="0">
                <a:solidFill>
                  <a:srgbClr val="E9EEF4"/>
                </a:solidFill>
                <a:latin typeface="Courier New" pitchFamily="34" charset="0"/>
                <a:ea typeface="Courier New" pitchFamily="34" charset="-122"/>
                <a:cs typeface="Courier New" pitchFamily="34" charset="-120"/>
              </a:rPr>
              <a:t>2. Vendor: it carries an exception ('Applications that do not override this system property are not affected by remote lookup substitution.'). Confirm the exception does not apply to our systems.</a:t>
            </a:r>
            <a:endParaRPr lang="en-US" sz="1300" dirty="0"/>
          </a:p>
        </p:txBody>
      </p:sp>
      <p:sp>
        <p:nvSpPr>
          <p:cNvPr id="6" name="Shape 4"/>
          <p:cNvSpPr/>
          <p:nvPr/>
        </p:nvSpPr>
        <p:spPr>
          <a:xfrm>
            <a:off x="7772400" y="1828800"/>
            <a:ext cx="3840480" cy="4206240"/>
          </a:xfrm>
          <a:prstGeom prst="roundRect">
            <a:avLst>
              <a:gd name="adj" fmla="val 2857"/>
            </a:avLst>
          </a:prstGeom>
          <a:solidFill>
            <a:srgbClr val="192737"/>
          </a:solidFill>
          <a:ln w="12700">
            <a:solidFill>
              <a:srgbClr val="2B3E52"/>
            </a:solidFill>
            <a:prstDash val="solid"/>
          </a:ln>
        </p:spPr>
        <p:txBody>
          <a:bodyPr/>
          <a:p/>
        </p:txBody>
      </p:sp>
      <p:sp>
        <p:nvSpPr>
          <p:cNvPr id="7" name="Text 5"/>
          <p:cNvSpPr txBox="1"/>
          <p:nvPr/>
        </p:nvSpPr>
        <p:spPr>
          <a:xfrm>
            <a:off x="8046720" y="2057400"/>
            <a:ext cx="3291840" cy="365760"/>
          </a:xfrm>
          <a:prstGeom prst="rect">
            <a:avLst/>
          </a:prstGeom>
          <a:noFill/>
          <a:ln/>
        </p:spPr>
        <p:txBody>
          <a:bodyPr wrap="square" lIns="0" tIns="0" rIns="0" bIns="0" rtlCol="0" anchor="ctr"/>
          <a:lstStyle/>
          <a:p>
            <a:pPr indent="0" marL="0">
              <a:buNone/>
            </a:pPr>
            <a:r>
              <a:rPr lang="en-US" sz="1800" b="1" dirty="0">
                <a:solidFill>
                  <a:srgbClr val="E9EEF4"/>
                </a:solidFill>
                <a:latin typeface="Calibri" pitchFamily="34" charset="0"/>
                <a:ea typeface="Calibri" pitchFamily="34" charset="-122"/>
                <a:cs typeface="Calibri" pitchFamily="34" charset="-120"/>
              </a:rPr>
              <a:t>Evidence trail</a:t>
            </a:r>
            <a:endParaRPr lang="en-US" sz="1800" dirty="0"/>
          </a:p>
        </p:txBody>
      </p:sp>
      <p:sp>
        <p:nvSpPr>
          <p:cNvPr id="8" name="Text 6"/>
          <p:cNvSpPr txBox="1"/>
          <p:nvPr/>
        </p:nvSpPr>
        <p:spPr>
          <a:xfrm>
            <a:off x="8046720" y="2560320"/>
            <a:ext cx="3291840" cy="3291840"/>
          </a:xfrm>
          <a:prstGeom prst="rect">
            <a:avLst/>
          </a:prstGeom>
          <a:noFill/>
          <a:ln/>
        </p:spPr>
        <p:txBody>
          <a:bodyPr wrap="square" lIns="0" tIns="0" rIns="0" bIns="0" rtlCol="0" anchor="t"/>
          <a:lstStyle/>
          <a:p>
            <a:pPr indent="0" marL="0">
              <a:buNone/>
            </a:pPr>
            <a:r>
              <a:rPr lang="en-US" sz="1600" dirty="0">
                <a:solidFill>
                  <a:srgbClr val="9FB0C1"/>
                </a:solidFill>
                <a:latin typeface="Calibri" pitchFamily="34" charset="0"/>
                <a:ea typeface="Calibri" pitchFamily="34" charset="-122"/>
                <a:cs typeface="Calibri" pitchFamily="34" charset="-120"/>
              </a:rPr>
              <a:t>From the Meterless engine: the belief was taken from Ticket OPS-4821; the vendor's changelog entry was superseded.</a:t>
            </a:r>
            <a:endParaRPr lang="en-US" sz="1600" dirty="0"/>
          </a:p>
          <a:p>
            <a:pPr indent="0" marL="0">
              <a:buNone/>
            </a:pPr>
            <a:r>
              <a:rPr lang="en-US" sz="1600" dirty="0">
                <a:solidFill>
                  <a:srgbClr val="9FB0C1"/>
                </a:solidFill>
                <a:latin typeface="Calibri" pitchFamily="34" charset="0"/>
                <a:ea typeface="Calibri" pitchFamily="34" charset="-122"/>
                <a:cs typeface="Calibri" pitchFamily="34" charset="-120"/>
              </a:rPr>
              <a:t> </a:t>
            </a:r>
            <a:endParaRPr lang="en-US" sz="1600" dirty="0"/>
          </a:p>
          <a:p>
            <a:pPr indent="0" marL="0">
              <a:buNone/>
            </a:pPr>
            <a:r>
              <a:rPr lang="en-US" sz="1600" dirty="0">
                <a:solidFill>
                  <a:srgbClr val="9FB0C1"/>
                </a:solidFill>
                <a:latin typeface="Calibri" pitchFamily="34" charset="0"/>
                <a:ea typeface="Calibri" pitchFamily="34" charset="-122"/>
                <a:cs typeface="Calibri" pitchFamily="34" charset="-120"/>
              </a:rPr>
              <a:t>Policy: internal ticket, then NVD, then vendor.</a:t>
            </a:r>
            <a:endParaRPr lang="en-US" sz="1600" dirty="0"/>
          </a:p>
          <a:p>
            <a:pPr indent="0" marL="0">
              <a:buNone/>
            </a:pPr>
            <a:r>
              <a:rPr lang="en-US" sz="1600" dirty="0">
                <a:solidFill>
                  <a:srgbClr val="9FB0C1"/>
                </a:solidFill>
                <a:latin typeface="Calibri" pitchFamily="34" charset="0"/>
                <a:ea typeface="Calibri" pitchFamily="34" charset="-122"/>
                <a:cs typeface="Calibri" pitchFamily="34" charset="-120"/>
              </a:rPr>
              <a:t> </a:t>
            </a:r>
            <a:endParaRPr lang="en-US" sz="1600" dirty="0"/>
          </a:p>
          <a:p>
            <a:pPr indent="0" marL="0">
              <a:buNone/>
            </a:pPr>
            <a:r>
              <a:rPr lang="en-US" sz="1600" dirty="0">
                <a:solidFill>
                  <a:srgbClr val="9FB0C1"/>
                </a:solidFill>
                <a:latin typeface="Calibri" pitchFamily="34" charset="0"/>
                <a:ea typeface="Calibri" pitchFamily="34" charset="-122"/>
                <a:cs typeface="Calibri" pitchFamily="34" charset="-120"/>
              </a:rPr>
              <a:t>24 events written to JSONL, each with its source.</a:t>
            </a:r>
            <a:endParaRPr lang="en-US" sz="16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10" name="Text 8"/>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9FB0C1"/>
                </a:solidFill>
                <a:latin typeface="Calibri" pitchFamily="34" charset="0"/>
                <a:ea typeface="Calibri" pitchFamily="34" charset="-122"/>
                <a:cs typeface="Calibri" pitchFamily="34" charset="-120"/>
              </a:rPr>
              <a:t>7 / 13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A8530F"/>
                </a:solidFill>
                <a:latin typeface="Calibri" pitchFamily="34" charset="0"/>
                <a:ea typeface="Calibri" pitchFamily="34" charset="-122"/>
                <a:cs typeface="Calibri" pitchFamily="34" charset="-120"/>
              </a:rPr>
              <a:t>PRODUCT: TIMELINE, STRUTS, THE EQUIFAX PATTERN</a:t>
            </a:r>
            <a:endParaRPr lang="en-US" sz="1200" dirty="0"/>
          </a:p>
        </p:txBody>
      </p:sp>
      <p:sp>
        <p:nvSpPr>
          <p:cNvPr id="3" name="Text 1"/>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600" b="1" dirty="0">
                <a:solidFill>
                  <a:srgbClr val="1B2733"/>
                </a:solidFill>
                <a:latin typeface="Cambria" pitchFamily="34" charset="0"/>
                <a:ea typeface="Cambria" pitchFamily="34" charset="-122"/>
                <a:cs typeface="Cambria" pitchFamily="34" charset="-120"/>
              </a:rPr>
              <a:t>The picture changes as evidence arrives</a:t>
            </a:r>
            <a:endParaRPr lang="en-US" sz="3600" dirty="0"/>
          </a:p>
        </p:txBody>
      </p:sp>
      <p:sp>
        <p:nvSpPr>
          <p:cNvPr id="4" name="Shape 2"/>
          <p:cNvSpPr/>
          <p:nvPr/>
        </p:nvSpPr>
        <p:spPr>
          <a:xfrm>
            <a:off x="1851660" y="2148840"/>
            <a:ext cx="8503920" cy="0"/>
          </a:xfrm>
          <a:prstGeom prst="line">
            <a:avLst/>
          </a:prstGeom>
          <a:noFill/>
          <a:ln w="25400">
            <a:solidFill>
              <a:srgbClr val="D5DCE4"/>
            </a:solidFill>
            <a:prstDash val="solid"/>
          </a:ln>
        </p:spPr>
        <p:txBody>
          <a:bodyPr/>
          <a:p/>
        </p:txBody>
      </p:sp>
      <p:sp>
        <p:nvSpPr>
          <p:cNvPr id="5" name="Shape 3"/>
          <p:cNvSpPr/>
          <p:nvPr/>
        </p:nvSpPr>
        <p:spPr>
          <a:xfrm>
            <a:off x="1668780" y="1965960"/>
            <a:ext cx="365760" cy="365760"/>
          </a:xfrm>
          <a:prstGeom prst="ellipse">
            <a:avLst/>
          </a:prstGeom>
          <a:solidFill>
            <a:srgbClr val="E8863A"/>
          </a:solidFill>
          <a:ln w="38100">
            <a:solidFill>
              <a:srgbClr val="F4F6F8"/>
            </a:solidFill>
            <a:prstDash val="solid"/>
          </a:ln>
        </p:spPr>
        <p:txBody>
          <a:bodyPr/>
          <a:p/>
        </p:txBody>
      </p:sp>
      <p:sp>
        <p:nvSpPr>
          <p:cNvPr id="6" name="Shape 4"/>
          <p:cNvSpPr/>
          <p:nvPr/>
        </p:nvSpPr>
        <p:spPr>
          <a:xfrm>
            <a:off x="548640" y="2606040"/>
            <a:ext cx="2606040" cy="3017520"/>
          </a:xfrm>
          <a:prstGeom prst="roundRect">
            <a:avLst>
              <a:gd name="adj" fmla="val 4211"/>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31520" y="2743200"/>
            <a:ext cx="2240280" cy="274320"/>
          </a:xfrm>
          <a:prstGeom prst="rect">
            <a:avLst/>
          </a:prstGeom>
          <a:noFill/>
          <a:ln/>
        </p:spPr>
        <p:txBody>
          <a:bodyPr wrap="square" lIns="0" tIns="0" rIns="0" bIns="0" rtlCol="0" anchor="ctr"/>
          <a:lstStyle/>
          <a:p>
            <a:pPr indent="0" marL="0">
              <a:buNone/>
            </a:pPr>
            <a:r>
              <a:rPr lang="en-US" sz="1100" dirty="0">
                <a:solidFill>
                  <a:srgbClr val="4A5868"/>
                </a:solidFill>
                <a:latin typeface="Courier New" pitchFamily="34" charset="0"/>
                <a:ea typeface="Courier New" pitchFamily="34" charset="-122"/>
                <a:cs typeface="Courier New" pitchFamily="34" charset="-120"/>
              </a:rPr>
              <a:t>Day 0</a:t>
            </a:r>
            <a:endParaRPr lang="en-US" sz="1100" dirty="0"/>
          </a:p>
        </p:txBody>
      </p:sp>
      <p:sp>
        <p:nvSpPr>
          <p:cNvPr id="8" name="Shape 6"/>
          <p:cNvSpPr/>
          <p:nvPr/>
        </p:nvSpPr>
        <p:spPr>
          <a:xfrm>
            <a:off x="731520" y="3108960"/>
            <a:ext cx="1463040" cy="384048"/>
          </a:xfrm>
          <a:prstGeom prst="roundRect">
            <a:avLst>
              <a:gd name="adj" fmla="val 19048"/>
            </a:avLst>
          </a:prstGeom>
          <a:solidFill>
            <a:srgbClr val="E8863A"/>
          </a:solidFill>
          <a:ln w="12700">
            <a:solidFill>
              <a:srgbClr val="E8863A"/>
            </a:solidFill>
            <a:prstDash val="solid"/>
          </a:ln>
        </p:spPr>
        <p:txBody>
          <a:bodyPr/>
          <a:p/>
        </p:txBody>
      </p:sp>
      <p:sp>
        <p:nvSpPr>
          <p:cNvPr id="9" name="Text 7"/>
          <p:cNvSpPr txBox="1"/>
          <p:nvPr/>
        </p:nvSpPr>
        <p:spPr>
          <a:xfrm>
            <a:off x="731520" y="3108960"/>
            <a:ext cx="1463040" cy="384048"/>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unresolved</a:t>
            </a:r>
            <a:endParaRPr lang="en-US" sz="1400" dirty="0"/>
          </a:p>
        </p:txBody>
      </p:sp>
      <p:sp>
        <p:nvSpPr>
          <p:cNvPr id="10" name="Text 8"/>
          <p:cNvSpPr txBox="1"/>
          <p:nvPr/>
        </p:nvSpPr>
        <p:spPr>
          <a:xfrm>
            <a:off x="731520" y="3611880"/>
            <a:ext cx="2240280" cy="105156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Public database entry appears</a:t>
            </a:r>
            <a:endParaRPr lang="en-US" sz="1400" dirty="0"/>
          </a:p>
        </p:txBody>
      </p:sp>
      <p:sp>
        <p:nvSpPr>
          <p:cNvPr id="11" name="Text 9"/>
          <p:cNvSpPr txBox="1"/>
          <p:nvPr/>
        </p:nvSpPr>
        <p:spPr>
          <a:xfrm>
            <a:off x="731520" y="4572000"/>
            <a:ext cx="2240280" cy="594360"/>
          </a:xfrm>
          <a:prstGeom prst="rect">
            <a:avLst/>
          </a:prstGeom>
          <a:noFill/>
          <a:ln/>
        </p:spPr>
        <p:txBody>
          <a:bodyPr wrap="square" lIns="0" tIns="0" rIns="0" bIns="0" rtlCol="0" anchor="t"/>
          <a:lstStyle/>
          <a:p>
            <a:pPr indent="0" marL="0">
              <a:buNone/>
            </a:pPr>
            <a:r>
              <a:rPr lang="en-US" sz="1200" dirty="0">
                <a:solidFill>
                  <a:srgbClr val="4A5868"/>
                </a:solidFill>
                <a:latin typeface="Calibri" pitchFamily="34" charset="0"/>
                <a:ea typeface="Calibri" pitchFamily="34" charset="-122"/>
                <a:cs typeface="Calibri" pitchFamily="34" charset="-120"/>
              </a:rPr>
              <a:t>internal: no check recorded; vendor: no vendor statement</a:t>
            </a:r>
            <a:endParaRPr lang="en-US" sz="1200" dirty="0"/>
          </a:p>
        </p:txBody>
      </p:sp>
      <p:sp>
        <p:nvSpPr>
          <p:cNvPr id="12" name="Shape 10"/>
          <p:cNvSpPr/>
          <p:nvPr/>
        </p:nvSpPr>
        <p:spPr>
          <a:xfrm>
            <a:off x="4503420" y="1965960"/>
            <a:ext cx="365760" cy="365760"/>
          </a:xfrm>
          <a:prstGeom prst="ellipse">
            <a:avLst/>
          </a:prstGeom>
          <a:solidFill>
            <a:srgbClr val="E8863A"/>
          </a:solidFill>
          <a:ln w="38100">
            <a:solidFill>
              <a:srgbClr val="F4F6F8"/>
            </a:solidFill>
            <a:prstDash val="solid"/>
          </a:ln>
        </p:spPr>
        <p:txBody>
          <a:bodyPr/>
          <a:p/>
        </p:txBody>
      </p:sp>
      <p:sp>
        <p:nvSpPr>
          <p:cNvPr id="13" name="Shape 11"/>
          <p:cNvSpPr/>
          <p:nvPr/>
        </p:nvSpPr>
        <p:spPr>
          <a:xfrm>
            <a:off x="3383280" y="2606040"/>
            <a:ext cx="2606040" cy="3017520"/>
          </a:xfrm>
          <a:prstGeom prst="roundRect">
            <a:avLst>
              <a:gd name="adj" fmla="val 4211"/>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3566160" y="2743200"/>
            <a:ext cx="2240280" cy="274320"/>
          </a:xfrm>
          <a:prstGeom prst="rect">
            <a:avLst/>
          </a:prstGeom>
          <a:noFill/>
          <a:ln/>
        </p:spPr>
        <p:txBody>
          <a:bodyPr wrap="square" lIns="0" tIns="0" rIns="0" bIns="0" rtlCol="0" anchor="ctr"/>
          <a:lstStyle/>
          <a:p>
            <a:pPr indent="0" marL="0">
              <a:buNone/>
            </a:pPr>
            <a:r>
              <a:rPr lang="en-US" sz="1100" dirty="0">
                <a:solidFill>
                  <a:srgbClr val="4A5868"/>
                </a:solidFill>
                <a:latin typeface="Courier New" pitchFamily="34" charset="0"/>
                <a:ea typeface="Courier New" pitchFamily="34" charset="-122"/>
                <a:cs typeface="Courier New" pitchFamily="34" charset="-120"/>
              </a:rPr>
              <a:t>Day 1</a:t>
            </a:r>
            <a:endParaRPr lang="en-US" sz="1100" dirty="0"/>
          </a:p>
        </p:txBody>
      </p:sp>
      <p:sp>
        <p:nvSpPr>
          <p:cNvPr id="15" name="Shape 13"/>
          <p:cNvSpPr/>
          <p:nvPr/>
        </p:nvSpPr>
        <p:spPr>
          <a:xfrm>
            <a:off x="3566160" y="3108960"/>
            <a:ext cx="1463040" cy="384048"/>
          </a:xfrm>
          <a:prstGeom prst="roundRect">
            <a:avLst>
              <a:gd name="adj" fmla="val 19048"/>
            </a:avLst>
          </a:prstGeom>
          <a:solidFill>
            <a:srgbClr val="E8863A"/>
          </a:solidFill>
          <a:ln w="12700">
            <a:solidFill>
              <a:srgbClr val="E8863A"/>
            </a:solidFill>
            <a:prstDash val="solid"/>
          </a:ln>
        </p:spPr>
        <p:txBody>
          <a:bodyPr/>
          <a:p/>
        </p:txBody>
      </p:sp>
      <p:sp>
        <p:nvSpPr>
          <p:cNvPr id="16" name="Text 14"/>
          <p:cNvSpPr txBox="1"/>
          <p:nvPr/>
        </p:nvSpPr>
        <p:spPr>
          <a:xfrm>
            <a:off x="3566160" y="3108960"/>
            <a:ext cx="1463040" cy="384048"/>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unresolved</a:t>
            </a:r>
            <a:endParaRPr lang="en-US" sz="1400" dirty="0"/>
          </a:p>
        </p:txBody>
      </p:sp>
      <p:sp>
        <p:nvSpPr>
          <p:cNvPr id="17" name="Text 15"/>
          <p:cNvSpPr txBox="1"/>
          <p:nvPr/>
        </p:nvSpPr>
        <p:spPr>
          <a:xfrm>
            <a:off x="3566160" y="3611880"/>
            <a:ext cx="2240280" cy="105156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Apache announces fixed versions</a:t>
            </a:r>
            <a:endParaRPr lang="en-US" sz="1400" dirty="0"/>
          </a:p>
        </p:txBody>
      </p:sp>
      <p:sp>
        <p:nvSpPr>
          <p:cNvPr id="18" name="Text 16"/>
          <p:cNvSpPr txBox="1"/>
          <p:nvPr/>
        </p:nvSpPr>
        <p:spPr>
          <a:xfrm>
            <a:off x="3566160" y="4572000"/>
            <a:ext cx="2240280" cy="594360"/>
          </a:xfrm>
          <a:prstGeom prst="rect">
            <a:avLst/>
          </a:prstGeom>
          <a:noFill/>
          <a:ln/>
        </p:spPr>
        <p:txBody>
          <a:bodyPr wrap="square" lIns="0" tIns="0" rIns="0" bIns="0" rtlCol="0" anchor="t"/>
          <a:lstStyle/>
          <a:p>
            <a:pPr indent="0" marL="0">
              <a:buNone/>
            </a:pPr>
            <a:r>
              <a:rPr lang="en-US" sz="1200" dirty="0">
                <a:solidFill>
                  <a:srgbClr val="4A5868"/>
                </a:solidFill>
                <a:latin typeface="Calibri" pitchFamily="34" charset="0"/>
                <a:ea typeface="Calibri" pitchFamily="34" charset="-122"/>
                <a:cs typeface="Calibri" pitchFamily="34" charset="-120"/>
              </a:rPr>
              <a:t>internal: no check recorded</a:t>
            </a:r>
            <a:endParaRPr lang="en-US" sz="1200" dirty="0"/>
          </a:p>
        </p:txBody>
      </p:sp>
      <p:sp>
        <p:nvSpPr>
          <p:cNvPr id="19" name="Shape 17"/>
          <p:cNvSpPr/>
          <p:nvPr/>
        </p:nvSpPr>
        <p:spPr>
          <a:xfrm>
            <a:off x="7338060" y="1965960"/>
            <a:ext cx="365760" cy="365760"/>
          </a:xfrm>
          <a:prstGeom prst="ellipse">
            <a:avLst/>
          </a:prstGeom>
          <a:solidFill>
            <a:srgbClr val="E8863A"/>
          </a:solidFill>
          <a:ln w="38100">
            <a:solidFill>
              <a:srgbClr val="F4F6F8"/>
            </a:solidFill>
            <a:prstDash val="solid"/>
          </a:ln>
        </p:spPr>
        <p:txBody>
          <a:bodyPr/>
          <a:p/>
        </p:txBody>
      </p:sp>
      <p:sp>
        <p:nvSpPr>
          <p:cNvPr id="20" name="Shape 18"/>
          <p:cNvSpPr/>
          <p:nvPr/>
        </p:nvSpPr>
        <p:spPr>
          <a:xfrm>
            <a:off x="6217920" y="2606040"/>
            <a:ext cx="2606040" cy="3017520"/>
          </a:xfrm>
          <a:prstGeom prst="roundRect">
            <a:avLst>
              <a:gd name="adj" fmla="val 4211"/>
            </a:avLst>
          </a:prstGeom>
          <a:solidFill>
            <a:srgbClr val="FFFFFF"/>
          </a:solidFill>
          <a:ln w="12700">
            <a:solidFill>
              <a:srgbClr val="E8863A"/>
            </a:solidFill>
            <a:prstDash val="solid"/>
          </a:ln>
          <a:effectLst>
            <a:outerShdw sx="100000" sy="100000" kx="0" ky="0" algn="bl" rotWithShape="0" blurRad="101600" dist="25400" dir="5400000">
              <a:srgbClr val="000000">
                <a:alpha val="12000"/>
              </a:srgbClr>
            </a:outerShdw>
          </a:effectLst>
        </p:spPr>
        <p:txBody>
          <a:bodyPr/>
          <a:p/>
        </p:txBody>
      </p:sp>
      <p:sp>
        <p:nvSpPr>
          <p:cNvPr id="21" name="Text 19"/>
          <p:cNvSpPr txBox="1"/>
          <p:nvPr/>
        </p:nvSpPr>
        <p:spPr>
          <a:xfrm>
            <a:off x="6400800" y="2743200"/>
            <a:ext cx="2240280" cy="274320"/>
          </a:xfrm>
          <a:prstGeom prst="rect">
            <a:avLst/>
          </a:prstGeom>
          <a:noFill/>
          <a:ln/>
        </p:spPr>
        <p:txBody>
          <a:bodyPr wrap="square" lIns="0" tIns="0" rIns="0" bIns="0" rtlCol="0" anchor="ctr"/>
          <a:lstStyle/>
          <a:p>
            <a:pPr indent="0" marL="0">
              <a:buNone/>
            </a:pPr>
            <a:r>
              <a:rPr lang="en-US" sz="1100" dirty="0">
                <a:solidFill>
                  <a:srgbClr val="4A5868"/>
                </a:solidFill>
                <a:latin typeface="Courier New" pitchFamily="34" charset="0"/>
                <a:ea typeface="Courier New" pitchFamily="34" charset="-122"/>
                <a:cs typeface="Courier New" pitchFamily="34" charset="-120"/>
              </a:rPr>
              <a:t>Day 4</a:t>
            </a:r>
            <a:endParaRPr lang="en-US" sz="1100" dirty="0"/>
          </a:p>
        </p:txBody>
      </p:sp>
      <p:sp>
        <p:nvSpPr>
          <p:cNvPr id="22" name="Shape 20"/>
          <p:cNvSpPr/>
          <p:nvPr/>
        </p:nvSpPr>
        <p:spPr>
          <a:xfrm>
            <a:off x="6400800" y="3108960"/>
            <a:ext cx="1463040" cy="384048"/>
          </a:xfrm>
          <a:prstGeom prst="roundRect">
            <a:avLst>
              <a:gd name="adj" fmla="val 19048"/>
            </a:avLst>
          </a:prstGeom>
          <a:solidFill>
            <a:srgbClr val="E8863A"/>
          </a:solidFill>
          <a:ln w="12700">
            <a:solidFill>
              <a:srgbClr val="E8863A"/>
            </a:solidFill>
            <a:prstDash val="solid"/>
          </a:ln>
        </p:spPr>
        <p:txBody>
          <a:bodyPr/>
          <a:p/>
        </p:txBody>
      </p:sp>
      <p:sp>
        <p:nvSpPr>
          <p:cNvPr id="23" name="Text 21"/>
          <p:cNvSpPr txBox="1"/>
          <p:nvPr/>
        </p:nvSpPr>
        <p:spPr>
          <a:xfrm>
            <a:off x="6400800" y="3108960"/>
            <a:ext cx="1463040" cy="384048"/>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unresolved</a:t>
            </a:r>
            <a:endParaRPr lang="en-US" sz="1400" dirty="0"/>
          </a:p>
        </p:txBody>
      </p:sp>
      <p:sp>
        <p:nvSpPr>
          <p:cNvPr id="24" name="Text 22"/>
          <p:cNvSpPr txBox="1"/>
          <p:nvPr/>
        </p:nvSpPr>
        <p:spPr>
          <a:xfrm>
            <a:off x="6400800" y="3611880"/>
            <a:ext cx="2240280" cy="105156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Internal scan: 13 of 14 applications confirmed, the dispute portal is not</a:t>
            </a:r>
            <a:endParaRPr lang="en-US" sz="1400" dirty="0"/>
          </a:p>
        </p:txBody>
      </p:sp>
      <p:sp>
        <p:nvSpPr>
          <p:cNvPr id="25" name="Text 23"/>
          <p:cNvSpPr txBox="1"/>
          <p:nvPr/>
        </p:nvSpPr>
        <p:spPr>
          <a:xfrm>
            <a:off x="6400800" y="4572000"/>
            <a:ext cx="2240280" cy="594360"/>
          </a:xfrm>
          <a:prstGeom prst="rect">
            <a:avLst/>
          </a:prstGeom>
          <a:noFill/>
          <a:ln/>
        </p:spPr>
        <p:txBody>
          <a:bodyPr wrap="square" lIns="0" tIns="0" rIns="0" bIns="0" rtlCol="0" anchor="t"/>
          <a:lstStyle/>
          <a:p>
            <a:pPr indent="0" marL="0">
              <a:buNone/>
            </a:pPr>
            <a:r>
              <a:rPr lang="en-US" sz="1200" dirty="0">
                <a:solidFill>
                  <a:srgbClr val="4A5868"/>
                </a:solidFill>
                <a:latin typeface="Calibri" pitchFamily="34" charset="0"/>
                <a:ea typeface="Calibri" pitchFamily="34" charset="-122"/>
                <a:cs typeface="Calibri" pitchFamily="34" charset="-120"/>
              </a:rPr>
              <a:t>internal: unconfirmed item</a:t>
            </a:r>
            <a:endParaRPr lang="en-US" sz="1200" dirty="0"/>
          </a:p>
        </p:txBody>
      </p:sp>
      <p:sp>
        <p:nvSpPr>
          <p:cNvPr id="26" name="Text 24"/>
          <p:cNvSpPr txBox="1"/>
          <p:nvPr/>
        </p:nvSpPr>
        <p:spPr>
          <a:xfrm>
            <a:off x="6400800" y="5138928"/>
            <a:ext cx="2240280" cy="411480"/>
          </a:xfrm>
          <a:prstGeom prst="rect">
            <a:avLst/>
          </a:prstGeom>
          <a:noFill/>
          <a:ln/>
        </p:spPr>
        <p:txBody>
          <a:bodyPr wrap="square" lIns="0" tIns="0" rIns="0" bIns="0" rtlCol="0" anchor="t"/>
          <a:lstStyle/>
          <a:p>
            <a:pPr indent="0" marL="0">
              <a:buNone/>
            </a:pPr>
            <a:r>
              <a:rPr lang="en-US" sz="1200" b="1" dirty="0">
                <a:solidFill>
                  <a:srgbClr val="A8530F"/>
                </a:solidFill>
                <a:latin typeface="Calibri" pitchFamily="34" charset="0"/>
                <a:ea typeface="Calibri" pitchFamily="34" charset="-122"/>
                <a:cs typeface="Calibri" pitchFamily="34" charset="-120"/>
              </a:rPr>
              <a:t>Names the one application that is not confirmed.</a:t>
            </a:r>
            <a:endParaRPr lang="en-US" sz="1200" dirty="0"/>
          </a:p>
        </p:txBody>
      </p:sp>
      <p:sp>
        <p:nvSpPr>
          <p:cNvPr id="27" name="Shape 25"/>
          <p:cNvSpPr/>
          <p:nvPr/>
        </p:nvSpPr>
        <p:spPr>
          <a:xfrm>
            <a:off x="10172700" y="1965960"/>
            <a:ext cx="365760" cy="365760"/>
          </a:xfrm>
          <a:prstGeom prst="ellipse">
            <a:avLst/>
          </a:prstGeom>
          <a:solidFill>
            <a:srgbClr val="5B9BF0"/>
          </a:solidFill>
          <a:ln w="38100">
            <a:solidFill>
              <a:srgbClr val="F4F6F8"/>
            </a:solidFill>
            <a:prstDash val="solid"/>
          </a:ln>
        </p:spPr>
        <p:txBody>
          <a:bodyPr/>
          <a:p/>
        </p:txBody>
      </p:sp>
      <p:sp>
        <p:nvSpPr>
          <p:cNvPr id="28" name="Shape 26"/>
          <p:cNvSpPr/>
          <p:nvPr/>
        </p:nvSpPr>
        <p:spPr>
          <a:xfrm>
            <a:off x="9052560" y="2606040"/>
            <a:ext cx="2606040" cy="3017520"/>
          </a:xfrm>
          <a:prstGeom prst="roundRect">
            <a:avLst>
              <a:gd name="adj" fmla="val 4211"/>
            </a:avLst>
          </a:prstGeom>
          <a:solidFill>
            <a:srgbClr val="FFFFFF"/>
          </a:solidFill>
          <a:ln w="12700">
            <a:solidFill>
              <a:srgbClr val="5B9BF0"/>
            </a:solidFill>
            <a:prstDash val="solid"/>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9235440" y="2743200"/>
            <a:ext cx="2240280" cy="274320"/>
          </a:xfrm>
          <a:prstGeom prst="rect">
            <a:avLst/>
          </a:prstGeom>
          <a:noFill/>
          <a:ln/>
        </p:spPr>
        <p:txBody>
          <a:bodyPr wrap="square" lIns="0" tIns="0" rIns="0" bIns="0" rtlCol="0" anchor="ctr"/>
          <a:lstStyle/>
          <a:p>
            <a:pPr indent="0" marL="0">
              <a:buNone/>
            </a:pPr>
            <a:r>
              <a:rPr lang="en-US" sz="1100" dirty="0">
                <a:solidFill>
                  <a:srgbClr val="4A5868"/>
                </a:solidFill>
                <a:latin typeface="Courier New" pitchFamily="34" charset="0"/>
                <a:ea typeface="Courier New" pitchFamily="34" charset="-122"/>
                <a:cs typeface="Courier New" pitchFamily="34" charset="-120"/>
              </a:rPr>
              <a:t>Day 9</a:t>
            </a:r>
            <a:endParaRPr lang="en-US" sz="1100" dirty="0"/>
          </a:p>
        </p:txBody>
      </p:sp>
      <p:sp>
        <p:nvSpPr>
          <p:cNvPr id="30" name="Shape 28"/>
          <p:cNvSpPr/>
          <p:nvPr/>
        </p:nvSpPr>
        <p:spPr>
          <a:xfrm>
            <a:off x="9235440" y="3108960"/>
            <a:ext cx="1463040" cy="384048"/>
          </a:xfrm>
          <a:prstGeom prst="roundRect">
            <a:avLst>
              <a:gd name="adj" fmla="val 19048"/>
            </a:avLst>
          </a:prstGeom>
          <a:solidFill>
            <a:srgbClr val="5B9BF0"/>
          </a:solidFill>
          <a:ln w="12700">
            <a:solidFill>
              <a:srgbClr val="5B9BF0"/>
            </a:solidFill>
            <a:prstDash val="solid"/>
          </a:ln>
        </p:spPr>
        <p:txBody>
          <a:bodyPr/>
          <a:p/>
        </p:txBody>
      </p:sp>
      <p:sp>
        <p:nvSpPr>
          <p:cNvPr id="31" name="Text 29"/>
          <p:cNvSpPr txBox="1"/>
          <p:nvPr/>
        </p:nvSpPr>
        <p:spPr>
          <a:xfrm>
            <a:off x="9235440" y="3108960"/>
            <a:ext cx="1463040" cy="384048"/>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resolved</a:t>
            </a:r>
            <a:endParaRPr lang="en-US" sz="1400" dirty="0"/>
          </a:p>
        </p:txBody>
      </p:sp>
      <p:sp>
        <p:nvSpPr>
          <p:cNvPr id="32" name="Text 30"/>
          <p:cNvSpPr txBox="1"/>
          <p:nvPr/>
        </p:nvSpPr>
        <p:spPr>
          <a:xfrm>
            <a:off x="9235440" y="3611880"/>
            <a:ext cx="2240280" cy="105156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Dispute portal upgraded and re-tested</a:t>
            </a:r>
            <a:endParaRPr lang="en-US" sz="1400" dirty="0"/>
          </a:p>
        </p:txBody>
      </p:sp>
      <p:sp>
        <p:nvSpPr>
          <p:cNvPr id="33" name="Text 31"/>
          <p:cNvSpPr txBox="1"/>
          <p:nvPr/>
        </p:nvSpPr>
        <p:spPr>
          <a:xfrm>
            <a:off x="9235440" y="4572000"/>
            <a:ext cx="2240280" cy="594360"/>
          </a:xfrm>
          <a:prstGeom prst="rect">
            <a:avLst/>
          </a:prstGeom>
          <a:noFill/>
          <a:ln/>
        </p:spPr>
        <p:txBody>
          <a:bodyPr wrap="square" lIns="0" tIns="0" rIns="0" bIns="0" rtlCol="0" anchor="t"/>
          <a:lstStyle/>
          <a:p>
            <a:pPr indent="0" marL="0">
              <a:buNone/>
            </a:pPr>
            <a:r>
              <a:rPr lang="en-US" sz="1200" dirty="0">
                <a:solidFill>
                  <a:srgbClr val="4A5868"/>
                </a:solidFill>
                <a:latin typeface="Calibri" pitchFamily="34" charset="0"/>
                <a:ea typeface="Calibri" pitchFamily="34" charset="-122"/>
                <a:cs typeface="Calibri" pitchFamily="34" charset="-120"/>
              </a:rPr>
              <a:t>resolved: vendor fix confirmed by the internal ticket</a:t>
            </a:r>
            <a:endParaRPr lang="en-US" sz="1200" dirty="0"/>
          </a:p>
        </p:txBody>
      </p:sp>
      <p:sp>
        <p:nvSpPr>
          <p:cNvPr id="34" name="Text 32"/>
          <p:cNvSpPr txBox="1"/>
          <p:nvPr/>
        </p:nvSpPr>
        <p:spPr>
          <a:xfrm>
            <a:off x="9235440" y="5138928"/>
            <a:ext cx="2240280" cy="411480"/>
          </a:xfrm>
          <a:prstGeom prst="rect">
            <a:avLst/>
          </a:prstGeom>
          <a:noFill/>
          <a:ln/>
        </p:spPr>
        <p:txBody>
          <a:bodyPr wrap="square" lIns="0" tIns="0" rIns="0" bIns="0" rtlCol="0" anchor="t"/>
          <a:lstStyle/>
          <a:p>
            <a:pPr indent="0" marL="0">
              <a:buNone/>
            </a:pPr>
            <a:r>
              <a:rPr lang="en-US" sz="1200" b="1" dirty="0">
                <a:solidFill>
                  <a:srgbClr val="1F5FB8"/>
                </a:solidFill>
                <a:latin typeface="Calibri" pitchFamily="34" charset="0"/>
                <a:ea typeface="Calibri" pitchFamily="34" charset="-122"/>
                <a:cs typeface="Calibri" pitchFamily="34" charset="-120"/>
              </a:rPr>
              <a:t>Only now does the decision change.</a:t>
            </a:r>
            <a:endParaRPr lang="en-US" sz="1200" dirty="0"/>
          </a:p>
        </p:txBody>
      </p:sp>
      <p:sp>
        <p:nvSpPr>
          <p:cNvPr id="35" name="Text 33"/>
          <p:cNvSpPr txBox="1"/>
          <p:nvPr/>
        </p:nvSpPr>
        <p:spPr>
          <a:xfrm>
            <a:off x="548640" y="5806440"/>
            <a:ext cx="11064240" cy="502920"/>
          </a:xfrm>
          <a:prstGeom prst="rect">
            <a:avLst/>
          </a:prstGeom>
          <a:noFill/>
          <a:ln/>
        </p:spPr>
        <p:txBody>
          <a:bodyPr wrap="square" lIns="0" tIns="0" rIns="0" bIns="0" rtlCol="0" anchor="t"/>
          <a:lstStyle/>
          <a:p>
            <a:pPr indent="0" marL="0">
              <a:buNone/>
            </a:pPr>
            <a:r>
              <a:rPr lang="en-US" sz="1200" dirty="0">
                <a:solidFill>
                  <a:srgbClr val="4A5868"/>
                </a:solidFill>
                <a:latin typeface="Calibri" pitchFamily="34" charset="0"/>
                <a:ea typeface="Calibri" pitchFamily="34" charset="-122"/>
                <a:cs typeface="Calibri" pitchFamily="34" charset="-120"/>
              </a:rPr>
              <a:t>Meterless engine: each evidence source existed exactly from its first day (13 of 13 time-travel checks). The NVD record and the Apache advisory are real; the timeline and internal tickets are simulated.</a:t>
            </a:r>
            <a:endParaRPr lang="en-US" sz="1200" dirty="0"/>
          </a:p>
        </p:txBody>
      </p:sp>
      <p:sp>
        <p:nvSpPr>
          <p:cNvPr id="36" name="Text 3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4A5868"/>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37" name="Text 35"/>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4A5868"/>
                </a:solidFill>
                <a:latin typeface="Calibri" pitchFamily="34" charset="0"/>
                <a:ea typeface="Calibri" pitchFamily="34" charset="-122"/>
                <a:cs typeface="Calibri" pitchFamily="34" charset="-120"/>
              </a:rPr>
              <a:t>8 / 13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A24"/>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E8863A"/>
                </a:solidFill>
                <a:latin typeface="Calibri" pitchFamily="34" charset="0"/>
                <a:ea typeface="Calibri" pitchFamily="34" charset="-122"/>
                <a:cs typeface="Calibri" pitchFamily="34" charset="-120"/>
              </a:rPr>
              <a:t>SPONSOR TECHNOLOGY: METERLESS</a:t>
            </a:r>
            <a:endParaRPr lang="en-US" sz="1200" dirty="0"/>
          </a:p>
        </p:txBody>
      </p:sp>
      <p:sp>
        <p:nvSpPr>
          <p:cNvPr id="3" name="Text 1"/>
          <p:cNvSpPr txBox="1"/>
          <p:nvPr/>
        </p:nvSpPr>
        <p:spPr>
          <a:xfrm>
            <a:off x="548640" y="868680"/>
            <a:ext cx="11064240" cy="822960"/>
          </a:xfrm>
          <a:prstGeom prst="rect">
            <a:avLst/>
          </a:prstGeom>
          <a:noFill/>
          <a:ln/>
        </p:spPr>
        <p:txBody>
          <a:bodyPr wrap="square" lIns="0" tIns="0" rIns="0" bIns="0" rtlCol="0" anchor="t"/>
          <a:lstStyle/>
          <a:p>
            <a:pPr indent="0" marL="0">
              <a:buNone/>
            </a:pPr>
            <a:r>
              <a:rPr lang="en-US" sz="3600" b="1" dirty="0">
                <a:solidFill>
                  <a:srgbClr val="E9EEF4"/>
                </a:solidFill>
                <a:latin typeface="Cambria" pitchFamily="34" charset="0"/>
                <a:ea typeface="Cambria" pitchFamily="34" charset="-122"/>
                <a:cs typeface="Cambria" pitchFamily="34" charset="-120"/>
              </a:rPr>
              <a:t>The World Model engine behind the explanation</a:t>
            </a:r>
            <a:endParaRPr lang="en-US" sz="3600" dirty="0"/>
          </a:p>
        </p:txBody>
      </p:sp>
      <p:sp>
        <p:nvSpPr>
          <p:cNvPr id="4" name="Shape 2"/>
          <p:cNvSpPr/>
          <p:nvPr/>
        </p:nvSpPr>
        <p:spPr>
          <a:xfrm>
            <a:off x="548640" y="1828800"/>
            <a:ext cx="3566160" cy="1600200"/>
          </a:xfrm>
          <a:prstGeom prst="roundRect">
            <a:avLst>
              <a:gd name="adj" fmla="val 6857"/>
            </a:avLst>
          </a:prstGeom>
          <a:solidFill>
            <a:srgbClr val="192737"/>
          </a:solidFill>
          <a:ln w="12700">
            <a:solidFill>
              <a:srgbClr val="2B3E52"/>
            </a:solidFill>
            <a:prstDash val="solid"/>
          </a:ln>
        </p:spPr>
        <p:txBody>
          <a:bodyPr/>
          <a:p/>
        </p:txBody>
      </p:sp>
      <p:sp>
        <p:nvSpPr>
          <p:cNvPr id="5" name="Text 3"/>
          <p:cNvSpPr txBox="1"/>
          <p:nvPr/>
        </p:nvSpPr>
        <p:spPr>
          <a:xfrm>
            <a:off x="822960" y="1920240"/>
            <a:ext cx="3017520" cy="777240"/>
          </a:xfrm>
          <a:prstGeom prst="rect">
            <a:avLst/>
          </a:prstGeom>
          <a:noFill/>
          <a:ln/>
        </p:spPr>
        <p:txBody>
          <a:bodyPr wrap="square" lIns="0" tIns="0" rIns="0" bIns="0" rtlCol="0" anchor="ctr"/>
          <a:lstStyle/>
          <a:p>
            <a:pPr indent="0" marL="0">
              <a:buNone/>
            </a:pPr>
            <a:r>
              <a:rPr lang="en-US" sz="4400" b="1" dirty="0">
                <a:solidFill>
                  <a:srgbClr val="5B9BF0"/>
                </a:solidFill>
                <a:latin typeface="Cambria" pitchFamily="34" charset="0"/>
                <a:ea typeface="Cambria" pitchFamily="34" charset="-122"/>
                <a:cs typeface="Cambria" pitchFamily="34" charset="-120"/>
              </a:rPr>
              <a:t>0</a:t>
            </a:r>
            <a:endParaRPr lang="en-US" sz="4400" dirty="0"/>
          </a:p>
        </p:txBody>
      </p:sp>
      <p:sp>
        <p:nvSpPr>
          <p:cNvPr id="6" name="Text 4"/>
          <p:cNvSpPr txBox="1"/>
          <p:nvPr/>
        </p:nvSpPr>
        <p:spPr>
          <a:xfrm>
            <a:off x="822960" y="2697480"/>
            <a:ext cx="3017520" cy="640080"/>
          </a:xfrm>
          <a:prstGeom prst="rect">
            <a:avLst/>
          </a:prstGeom>
          <a:noFill/>
          <a:ln/>
        </p:spPr>
        <p:txBody>
          <a:bodyPr wrap="square" lIns="0" tIns="0" rIns="0" bIns="0" rtlCol="0" anchor="t"/>
          <a:lstStyle/>
          <a:p>
            <a:pPr indent="0" marL="0">
              <a:buNone/>
            </a:pPr>
            <a:r>
              <a:rPr lang="en-US" sz="1300" dirty="0">
                <a:solidFill>
                  <a:srgbClr val="9FB0C1"/>
                </a:solidFill>
                <a:latin typeface="Calibri" pitchFamily="34" charset="0"/>
                <a:ea typeface="Calibri" pitchFamily="34" charset="-122"/>
                <a:cs typeface="Calibri" pitchFamily="34" charset="-120"/>
              </a:rPr>
              <a:t>new events when the same evidence is ingested again</a:t>
            </a:r>
            <a:endParaRPr lang="en-US" sz="1300" dirty="0"/>
          </a:p>
        </p:txBody>
      </p:sp>
      <p:sp>
        <p:nvSpPr>
          <p:cNvPr id="7" name="Shape 5"/>
          <p:cNvSpPr/>
          <p:nvPr/>
        </p:nvSpPr>
        <p:spPr>
          <a:xfrm>
            <a:off x="4297680" y="1828800"/>
            <a:ext cx="3566160" cy="1600200"/>
          </a:xfrm>
          <a:prstGeom prst="roundRect">
            <a:avLst>
              <a:gd name="adj" fmla="val 6857"/>
            </a:avLst>
          </a:prstGeom>
          <a:solidFill>
            <a:srgbClr val="192737"/>
          </a:solidFill>
          <a:ln w="12700">
            <a:solidFill>
              <a:srgbClr val="2B3E52"/>
            </a:solidFill>
            <a:prstDash val="solid"/>
          </a:ln>
        </p:spPr>
        <p:txBody>
          <a:bodyPr/>
          <a:p/>
        </p:txBody>
      </p:sp>
      <p:sp>
        <p:nvSpPr>
          <p:cNvPr id="8" name="Text 6"/>
          <p:cNvSpPr txBox="1"/>
          <p:nvPr/>
        </p:nvSpPr>
        <p:spPr>
          <a:xfrm>
            <a:off x="4572000" y="1920240"/>
            <a:ext cx="3017520" cy="777240"/>
          </a:xfrm>
          <a:prstGeom prst="rect">
            <a:avLst/>
          </a:prstGeom>
          <a:noFill/>
          <a:ln/>
        </p:spPr>
        <p:txBody>
          <a:bodyPr wrap="square" lIns="0" tIns="0" rIns="0" bIns="0" rtlCol="0" anchor="ctr"/>
          <a:lstStyle/>
          <a:p>
            <a:pPr indent="0" marL="0">
              <a:buNone/>
            </a:pPr>
            <a:r>
              <a:rPr lang="en-US" sz="4400" b="1" dirty="0">
                <a:solidFill>
                  <a:srgbClr val="5B9BF0"/>
                </a:solidFill>
                <a:latin typeface="Cambria" pitchFamily="34" charset="0"/>
                <a:ea typeface="Cambria" pitchFamily="34" charset="-122"/>
                <a:cs typeface="Cambria" pitchFamily="34" charset="-120"/>
              </a:rPr>
              <a:t>13 / 13</a:t>
            </a:r>
            <a:endParaRPr lang="en-US" sz="4400" dirty="0"/>
          </a:p>
        </p:txBody>
      </p:sp>
      <p:sp>
        <p:nvSpPr>
          <p:cNvPr id="9" name="Text 7"/>
          <p:cNvSpPr txBox="1"/>
          <p:nvPr/>
        </p:nvSpPr>
        <p:spPr>
          <a:xfrm>
            <a:off x="4572000" y="2697480"/>
            <a:ext cx="3017520" cy="640080"/>
          </a:xfrm>
          <a:prstGeom prst="rect">
            <a:avLst/>
          </a:prstGeom>
          <a:noFill/>
          <a:ln/>
        </p:spPr>
        <p:txBody>
          <a:bodyPr wrap="square" lIns="0" tIns="0" rIns="0" bIns="0" rtlCol="0" anchor="t"/>
          <a:lstStyle/>
          <a:p>
            <a:pPr indent="0" marL="0">
              <a:buNone/>
            </a:pPr>
            <a:r>
              <a:rPr lang="en-US" sz="1300" dirty="0">
                <a:solidFill>
                  <a:srgbClr val="9FB0C1"/>
                </a:solidFill>
                <a:latin typeface="Calibri" pitchFamily="34" charset="0"/>
                <a:ea typeface="Calibri" pitchFamily="34" charset="-122"/>
                <a:cs typeface="Calibri" pitchFamily="34" charset="-120"/>
              </a:rPr>
              <a:t>time-travel checks: each source existed exactly from its first day</a:t>
            </a:r>
            <a:endParaRPr lang="en-US" sz="1300" dirty="0"/>
          </a:p>
        </p:txBody>
      </p:sp>
      <p:sp>
        <p:nvSpPr>
          <p:cNvPr id="10" name="Shape 8"/>
          <p:cNvSpPr/>
          <p:nvPr/>
        </p:nvSpPr>
        <p:spPr>
          <a:xfrm>
            <a:off x="8046720" y="1828800"/>
            <a:ext cx="3566160" cy="1600200"/>
          </a:xfrm>
          <a:prstGeom prst="roundRect">
            <a:avLst>
              <a:gd name="adj" fmla="val 6857"/>
            </a:avLst>
          </a:prstGeom>
          <a:solidFill>
            <a:srgbClr val="192737"/>
          </a:solidFill>
          <a:ln w="12700">
            <a:solidFill>
              <a:srgbClr val="2B3E52"/>
            </a:solidFill>
            <a:prstDash val="solid"/>
          </a:ln>
        </p:spPr>
        <p:txBody>
          <a:bodyPr/>
          <a:p/>
        </p:txBody>
      </p:sp>
      <p:sp>
        <p:nvSpPr>
          <p:cNvPr id="11" name="Text 9"/>
          <p:cNvSpPr txBox="1"/>
          <p:nvPr/>
        </p:nvSpPr>
        <p:spPr>
          <a:xfrm>
            <a:off x="8321040" y="1920240"/>
            <a:ext cx="3017520" cy="777240"/>
          </a:xfrm>
          <a:prstGeom prst="rect">
            <a:avLst/>
          </a:prstGeom>
          <a:noFill/>
          <a:ln/>
        </p:spPr>
        <p:txBody>
          <a:bodyPr wrap="square" lIns="0" tIns="0" rIns="0" bIns="0" rtlCol="0" anchor="ctr"/>
          <a:lstStyle/>
          <a:p>
            <a:pPr indent="0" marL="0">
              <a:buNone/>
            </a:pPr>
            <a:r>
              <a:rPr lang="en-US" sz="4400" b="1" dirty="0">
                <a:solidFill>
                  <a:srgbClr val="5B9BF0"/>
                </a:solidFill>
                <a:latin typeface="Cambria" pitchFamily="34" charset="0"/>
                <a:ea typeface="Cambria" pitchFamily="34" charset="-122"/>
                <a:cs typeface="Cambria" pitchFamily="34" charset="-120"/>
              </a:rPr>
              <a:t>74</a:t>
            </a:r>
            <a:endParaRPr lang="en-US" sz="4400" dirty="0"/>
          </a:p>
        </p:txBody>
      </p:sp>
      <p:sp>
        <p:nvSpPr>
          <p:cNvPr id="12" name="Text 10"/>
          <p:cNvSpPr txBox="1"/>
          <p:nvPr/>
        </p:nvSpPr>
        <p:spPr>
          <a:xfrm>
            <a:off x="8321040" y="2697480"/>
            <a:ext cx="3017520" cy="640080"/>
          </a:xfrm>
          <a:prstGeom prst="rect">
            <a:avLst/>
          </a:prstGeom>
          <a:noFill/>
          <a:ln/>
        </p:spPr>
        <p:txBody>
          <a:bodyPr wrap="square" lIns="0" tIns="0" rIns="0" bIns="0" rtlCol="0" anchor="t"/>
          <a:lstStyle/>
          <a:p>
            <a:pPr indent="0" marL="0">
              <a:buNone/>
            </a:pPr>
            <a:r>
              <a:rPr lang="en-US" sz="1300" dirty="0">
                <a:solidFill>
                  <a:srgbClr val="9FB0C1"/>
                </a:solidFill>
                <a:latin typeface="Calibri" pitchFamily="34" charset="0"/>
                <a:ea typeface="Calibri" pitchFamily="34" charset="-122"/>
                <a:cs typeface="Calibri" pitchFamily="34" charset="-120"/>
              </a:rPr>
              <a:t>checks in the Meterless test suite</a:t>
            </a:r>
            <a:endParaRPr lang="en-US" sz="1300" dirty="0"/>
          </a:p>
        </p:txBody>
      </p:sp>
      <p:sp>
        <p:nvSpPr>
          <p:cNvPr id="13" name="Text 11"/>
          <p:cNvSpPr txBox="1"/>
          <p:nvPr/>
        </p:nvSpPr>
        <p:spPr>
          <a:xfrm>
            <a:off x="548640" y="3749040"/>
            <a:ext cx="56692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9EEF4"/>
                </a:solidFill>
                <a:latin typeface="Calibri" pitchFamily="34" charset="0"/>
                <a:ea typeface="Calibri" pitchFamily="34" charset="-122"/>
                <a:cs typeface="Calibri" pitchFamily="34" charset="-120"/>
              </a:rPr>
              <a:t>Only the World Model engine is mounted; H-MEM, Markovian, Scout Intent and Swarm are not.</a:t>
            </a:r>
            <a:endParaRPr lang="en-US" sz="1500" dirty="0"/>
          </a:p>
          <a:p>
            <a:pPr marL="342900" indent="-342900">
              <a:spcAft>
                <a:spcPts val="800"/>
              </a:spcAft>
              <a:buSzPct val="100000"/>
              <a:buChar char="•"/>
            </a:pPr>
            <a:r>
              <a:rPr lang="en-US" sz="1500" dirty="0">
                <a:solidFill>
                  <a:srgbClr val="E9EEF4"/>
                </a:solidFill>
                <a:latin typeface="Calibri" pitchFamily="34" charset="0"/>
                <a:ea typeface="Calibri" pitchFamily="34" charset="-122"/>
                <a:cs typeface="Calibri" pitchFamily="34" charset="-120"/>
              </a:rPr>
              <a:t>The unmodified reference engine, driven from Python; a Python port is the fallback.</a:t>
            </a:r>
            <a:endParaRPr lang="en-US" sz="1500" dirty="0"/>
          </a:p>
          <a:p>
            <a:pPr marL="342900" indent="-342900">
              <a:spcAft>
                <a:spcPts val="800"/>
              </a:spcAft>
              <a:buSzPct val="100000"/>
              <a:buChar char="•"/>
            </a:pPr>
            <a:r>
              <a:rPr lang="en-US" sz="1500" dirty="0">
                <a:solidFill>
                  <a:srgbClr val="E9EEF4"/>
                </a:solidFill>
                <a:latin typeface="Calibri" pitchFamily="34" charset="0"/>
                <a:ea typeface="Calibri" pitchFamily="34" charset="-122"/>
                <a:cs typeface="Calibri" pitchFamily="34" charset="-120"/>
              </a:rPr>
              <a:t>Idempotent ingest, and a crash mid-run resumes cleanly.</a:t>
            </a:r>
            <a:endParaRPr lang="en-US" sz="1500" dirty="0"/>
          </a:p>
          <a:p>
            <a:pPr marL="342900" indent="-342900">
              <a:spcAft>
                <a:spcPts val="800"/>
              </a:spcAft>
              <a:buSzPct val="100000"/>
              <a:buChar char="•"/>
            </a:pPr>
            <a:r>
              <a:rPr lang="en-US" sz="1500" dirty="0">
                <a:solidFill>
                  <a:srgbClr val="E9EEF4"/>
                </a:solidFill>
                <a:latin typeface="Calibri" pitchFamily="34" charset="0"/>
                <a:ea typeface="Calibri" pitchFamily="34" charset="-122"/>
                <a:cs typeface="Calibri" pitchFamily="34" charset="-120"/>
              </a:rPr>
              <a:t>Every event is logged as JSONL with its source.</a:t>
            </a:r>
            <a:endParaRPr lang="en-US" sz="1500" dirty="0"/>
          </a:p>
        </p:txBody>
      </p:sp>
      <p:sp>
        <p:nvSpPr>
          <p:cNvPr id="14" name="Shape 12"/>
          <p:cNvSpPr/>
          <p:nvPr/>
        </p:nvSpPr>
        <p:spPr>
          <a:xfrm>
            <a:off x="6492240" y="3749040"/>
            <a:ext cx="5120640" cy="2240280"/>
          </a:xfrm>
          <a:prstGeom prst="roundRect">
            <a:avLst>
              <a:gd name="adj" fmla="val 4898"/>
            </a:avLst>
          </a:prstGeom>
          <a:solidFill>
            <a:srgbClr val="192737"/>
          </a:solidFill>
          <a:ln w="12700">
            <a:solidFill>
              <a:srgbClr val="2B3E52"/>
            </a:solidFill>
            <a:prstDash val="solid"/>
          </a:ln>
        </p:spPr>
        <p:txBody>
          <a:bodyPr/>
          <a:p/>
        </p:txBody>
      </p:sp>
      <p:sp>
        <p:nvSpPr>
          <p:cNvPr id="15" name="Text 13"/>
          <p:cNvSpPr txBox="1"/>
          <p:nvPr/>
        </p:nvSpPr>
        <p:spPr>
          <a:xfrm>
            <a:off x="6766560" y="3931920"/>
            <a:ext cx="4572000" cy="365760"/>
          </a:xfrm>
          <a:prstGeom prst="rect">
            <a:avLst/>
          </a:prstGeom>
          <a:noFill/>
          <a:ln/>
        </p:spPr>
        <p:txBody>
          <a:bodyPr wrap="square" lIns="0" tIns="0" rIns="0" bIns="0" rtlCol="0" anchor="ctr"/>
          <a:lstStyle/>
          <a:p>
            <a:pPr indent="0" marL="0">
              <a:buNone/>
            </a:pPr>
            <a:r>
              <a:rPr lang="en-US" sz="1700" b="1" dirty="0">
                <a:solidFill>
                  <a:srgbClr val="E9EEF4"/>
                </a:solidFill>
                <a:latin typeface="Calibri" pitchFamily="34" charset="0"/>
                <a:ea typeface="Calibri" pitchFamily="34" charset="-122"/>
                <a:cs typeface="Calibri" pitchFamily="34" charset="-120"/>
              </a:rPr>
              <a:t>Tested, and two limits found</a:t>
            </a:r>
            <a:endParaRPr lang="en-US" sz="1700" dirty="0"/>
          </a:p>
        </p:txBody>
      </p:sp>
      <p:sp>
        <p:nvSpPr>
          <p:cNvPr id="16" name="Text 14"/>
          <p:cNvSpPr txBox="1"/>
          <p:nvPr/>
        </p:nvSpPr>
        <p:spPr>
          <a:xfrm>
            <a:off x="6766560" y="4389120"/>
            <a:ext cx="4572000" cy="1508760"/>
          </a:xfrm>
          <a:prstGeom prst="rect">
            <a:avLst/>
          </a:prstGeom>
          <a:noFill/>
          <a:ln/>
        </p:spPr>
        <p:txBody>
          <a:bodyPr wrap="square" lIns="0" tIns="0" rIns="0" bIns="0" rtlCol="0" anchor="t"/>
          <a:lstStyle/>
          <a:p>
            <a:pPr indent="0" marL="0">
              <a:buNone/>
            </a:pPr>
            <a:r>
              <a:rPr lang="en-US" sz="1400" dirty="0">
                <a:solidFill>
                  <a:srgbClr val="9FB0C1"/>
                </a:solidFill>
                <a:latin typeface="Calibri" pitchFamily="34" charset="0"/>
                <a:ea typeface="Calibri" pitchFamily="34" charset="-122"/>
                <a:cs typeface="Calibri" pitchFamily="34" charset="-120"/>
              </a:rPr>
              <a:t>The reference writes its store file non-atomically, and after a restart it loses the "superseded" markers. We handle both without modifying the engine. The key safeguards were each shown to make a test fail when removed.</a:t>
            </a:r>
            <a:endParaRPr lang="en-US" sz="14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18" name="Text 16"/>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9FB0C1"/>
                </a:solidFill>
                <a:latin typeface="Calibri" pitchFamily="34" charset="0"/>
                <a:ea typeface="Calibri" pitchFamily="34" charset="-122"/>
                <a:cs typeface="Calibri" pitchFamily="34" charset="-120"/>
              </a:rPr>
              <a:t>9 / 13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A8530F"/>
                </a:solidFill>
                <a:latin typeface="Calibri" pitchFamily="34" charset="0"/>
                <a:ea typeface="Calibri" pitchFamily="34" charset="-122"/>
                <a:cs typeface="Calibri" pitchFamily="34" charset="-120"/>
              </a:rPr>
              <a:t>MEASURED, NOT CLAIMED</a:t>
            </a:r>
            <a:endParaRPr lang="en-US" sz="1200" dirty="0"/>
          </a:p>
        </p:txBody>
      </p:sp>
      <p:sp>
        <p:nvSpPr>
          <p:cNvPr id="3" name="Text 1"/>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600" b="1" dirty="0">
                <a:solidFill>
                  <a:srgbClr val="1B2733"/>
                </a:solidFill>
                <a:latin typeface="Cambria" pitchFamily="34" charset="0"/>
                <a:ea typeface="Cambria" pitchFamily="34" charset="-122"/>
                <a:cs typeface="Cambria" pitchFamily="34" charset="-120"/>
              </a:rPr>
              <a:t>We measured our weak spot, then improved it</a:t>
            </a:r>
            <a:endParaRPr lang="en-US" sz="3600" dirty="0"/>
          </a:p>
        </p:txBody>
      </p:sp>
      <p:sp>
        <p:nvSpPr>
          <p:cNvPr id="4" name="Shape 2"/>
          <p:cNvSpPr/>
          <p:nvPr/>
        </p:nvSpPr>
        <p:spPr>
          <a:xfrm>
            <a:off x="548640" y="1737360"/>
            <a:ext cx="5349240" cy="3246120"/>
          </a:xfrm>
          <a:prstGeom prst="roundRect">
            <a:avLst>
              <a:gd name="adj" fmla="val 338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5" name="Text 3"/>
          <p:cNvSpPr txBox="1"/>
          <p:nvPr/>
        </p:nvSpPr>
        <p:spPr>
          <a:xfrm>
            <a:off x="777240" y="1828800"/>
            <a:ext cx="4892040" cy="45720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Hedges missed, of 56 (the dangerous error)</a:t>
            </a:r>
            <a:endParaRPr lang="en-US" sz="1600" dirty="0"/>
          </a:p>
        </p:txBody>
      </p:sp>
      <p:graphicFrame>
        <p:nvGraphicFramePr>
          <p:cNvPr id="6" name="Chart 0" descr=""/>
          <p:cNvGraphicFramePr/>
          <p:nvPr/>
        </p:nvGraphicFramePr>
        <p:xfrm>
          <a:off x="685800" y="2286000"/>
          <a:ext cx="5074920" cy="26060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263640" y="1737360"/>
            <a:ext cx="5349240" cy="3246120"/>
          </a:xfrm>
          <a:prstGeom prst="roundRect">
            <a:avLst>
              <a:gd name="adj" fmla="val 3380"/>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6492240" y="1828800"/>
            <a:ext cx="4892040" cy="45720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False alarms, of 86 (harmless but noisy)</a:t>
            </a:r>
            <a:endParaRPr lang="en-US" sz="1600" dirty="0"/>
          </a:p>
        </p:txBody>
      </p:sp>
      <p:graphicFrame>
        <p:nvGraphicFramePr>
          <p:cNvPr id="9" name="Chart 1" descr=""/>
          <p:cNvGraphicFramePr/>
          <p:nvPr/>
        </p:nvGraphicFramePr>
        <p:xfrm>
          <a:off x="6400800" y="2286000"/>
          <a:ext cx="5074920" cy="260604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548640" y="5212080"/>
            <a:ext cx="11064240" cy="594360"/>
          </a:xfrm>
          <a:prstGeom prst="rect">
            <a:avLst/>
          </a:prstGeom>
          <a:noFill/>
          <a:ln/>
        </p:spPr>
        <p:txBody>
          <a:bodyPr wrap="square" lIns="0" tIns="0" rIns="0" bIns="0" rtlCol="0" anchor="t"/>
          <a:lstStyle/>
          <a:p>
            <a:pPr indent="0" marL="0">
              <a:buNone/>
            </a:pPr>
            <a:r>
              <a:rPr lang="en-US" sz="1600" dirty="0">
                <a:solidFill>
                  <a:srgbClr val="1B2733"/>
                </a:solidFill>
                <a:latin typeface="Calibri" pitchFamily="34" charset="0"/>
                <a:ea typeface="Calibri" pitchFamily="34" charset="-122"/>
                <a:cs typeface="Calibri" pitchFamily="34" charset="-120"/>
              </a:rPr>
              <a:t>Prompt v2 cut false alarms from 50 to 9 or 10 for two more missed hedges; a third prompt did not hold on the test half. Nemotron 3.5 lightning met our pre-set bar on the test half (2 of 56 missed, 0 of 86 false alarms, same in two runs).</a:t>
            </a:r>
            <a:endParaRPr lang="en-US" sz="1600" dirty="0"/>
          </a:p>
        </p:txBody>
      </p:sp>
      <p:sp>
        <p:nvSpPr>
          <p:cNvPr id="11" name="Text 7"/>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200" dirty="0">
                <a:solidFill>
                  <a:srgbClr val="4A5868"/>
                </a:solidFill>
                <a:latin typeface="Calibri" pitchFamily="34" charset="0"/>
                <a:ea typeface="Calibri" pitchFamily="34" charset="-122"/>
                <a:cs typeface="Calibri" pitchFamily="34" charset="-120"/>
              </a:rPr>
              <a:t>Test half of a 286-text corpus we wrote ourselves. On 24 real advisory sentences (author-labelled, one run) Nemotron rated 14 of 17 clear ones uncertain: the result does not carry over. NVIDIA API directly, not Nightshift.</a:t>
            </a:r>
            <a:endParaRPr lang="en-US" sz="1200" dirty="0"/>
          </a:p>
        </p:txBody>
      </p:sp>
      <p:sp>
        <p:nvSpPr>
          <p:cNvPr id="12"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4A5868"/>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13" name="Text 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4A5868"/>
                </a:solidFill>
                <a:latin typeface="Calibri" pitchFamily="34" charset="0"/>
                <a:ea typeface="Calibri" pitchFamily="34" charset="-122"/>
                <a:cs typeface="Calibri" pitchFamily="34" charset="-120"/>
              </a:rPr>
              <a:t>10 / 13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A24"/>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E8863A"/>
                </a:solidFill>
                <a:latin typeface="Calibri" pitchFamily="34" charset="0"/>
                <a:ea typeface="Calibri" pitchFamily="34" charset="-122"/>
                <a:cs typeface="Calibri" pitchFamily="34" charset="-120"/>
              </a:rPr>
              <a:t>SPONSOR TECHNOLOGY</a:t>
            </a:r>
            <a:endParaRPr lang="en-US" sz="1200" dirty="0"/>
          </a:p>
        </p:txBody>
      </p:sp>
      <p:sp>
        <p:nvSpPr>
          <p:cNvPr id="3" name="Text 1"/>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600" b="1" dirty="0">
                <a:solidFill>
                  <a:srgbClr val="E9EEF4"/>
                </a:solidFill>
                <a:latin typeface="Cambria" pitchFamily="34" charset="0"/>
                <a:ea typeface="Cambria" pitchFamily="34" charset="-122"/>
                <a:cs typeface="Cambria" pitchFamily="34" charset="-120"/>
              </a:rPr>
              <a:t>How each sponsor technology is used</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554480"/>
                <a:gridCol w="5669280"/>
                <a:gridCol w="3840480"/>
              </a:tblGrid>
              <a:tr h="603504">
                <a:tc>
                  <a:txBody>
                    <a:bodyPr/>
                    <a:lstStyle/>
                    <a:p>
                      <a:pPr indent="0" marL="0">
                        <a:buNone/>
                      </a:pPr>
                      <a:r>
                        <a:rPr lang="en-US" sz="1400" b="1" dirty="0">
                          <a:solidFill>
                            <a:srgbClr val="E9EEF4"/>
                          </a:solidFill>
                          <a:latin typeface="Calibri" pitchFamily="34" charset="0"/>
                          <a:ea typeface="Calibri" pitchFamily="34" charset="-122"/>
                          <a:cs typeface="Calibri" pitchFamily="34" charset="-120"/>
                        </a:rPr>
                        <a:t>Sponsor</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c>
                  <a:txBody>
                    <a:bodyPr/>
                    <a:lstStyle/>
                    <a:p>
                      <a:pPr indent="0" marL="0">
                        <a:buNone/>
                      </a:pPr>
                      <a:r>
                        <a:rPr lang="en-US" sz="1400" b="1" dirty="0">
                          <a:solidFill>
                            <a:srgbClr val="E9EEF4"/>
                          </a:solidFill>
                          <a:latin typeface="Calibri" pitchFamily="34" charset="0"/>
                          <a:ea typeface="Calibri" pitchFamily="34" charset="-122"/>
                          <a:cs typeface="Calibri" pitchFamily="34" charset="-120"/>
                        </a:rPr>
                        <a:t>Used for</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c>
                  <a:txBody>
                    <a:bodyPr/>
                    <a:lstStyle/>
                    <a:p>
                      <a:pPr indent="0" marL="0">
                        <a:buNone/>
                      </a:pPr>
                      <a:r>
                        <a:rPr lang="en-US" sz="1400" b="1" dirty="0">
                          <a:solidFill>
                            <a:srgbClr val="E9EEF4"/>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2B3E52"/>
                    </a:solidFill>
                  </a:tcPr>
                </a:tc>
              </a:tr>
              <a:tr h="603504">
                <a:tc>
                  <a:txBody>
                    <a:bodyPr/>
                    <a:lstStyle/>
                    <a:p>
                      <a:pPr indent="0" marL="0">
                        <a:buNone/>
                      </a:pPr>
                      <a:r>
                        <a:rPr lang="en-US" sz="1400" b="1" dirty="0">
                          <a:solidFill>
                            <a:srgbClr val="E9EEF4"/>
                          </a:solidFill>
                          <a:latin typeface="Calibri" pitchFamily="34" charset="0"/>
                          <a:ea typeface="Calibri" pitchFamily="34" charset="-122"/>
                          <a:cs typeface="Calibri" pitchFamily="34" charset="-120"/>
                        </a:rPr>
                        <a:t>Meterless</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dirty="0">
                          <a:solidFill>
                            <a:srgbClr val="E9EEF4"/>
                          </a:solidFill>
                          <a:latin typeface="Calibri" pitchFamily="34" charset="0"/>
                          <a:ea typeface="Calibri" pitchFamily="34" charset="-122"/>
                          <a:cs typeface="Calibri" pitchFamily="34" charset="-120"/>
                        </a:rPr>
                        <a:t>World Model engine: facts with provenance, conflict policy, audit log. Runtime provider built (no Linux Nightshift)</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b="1" dirty="0">
                          <a:solidFill>
                            <a:srgbClr val="5B9BF0"/>
                          </a:solidFill>
                          <a:latin typeface="Calibri" pitchFamily="34" charset="0"/>
                          <a:ea typeface="Calibri" pitchFamily="34" charset="-122"/>
                          <a:cs typeface="Calibri" pitchFamily="34" charset="-120"/>
                        </a:rPr>
                        <a:t>Engine tested; provider on a stand-in only</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603504">
                <a:tc>
                  <a:txBody>
                    <a:bodyPr/>
                    <a:lstStyle/>
                    <a:p>
                      <a:pPr indent="0" marL="0">
                        <a:buNone/>
                      </a:pPr>
                      <a:r>
                        <a:rPr lang="en-US" sz="1400" b="1" dirty="0">
                          <a:solidFill>
                            <a:srgbClr val="E9EEF4"/>
                          </a:solidFill>
                          <a:latin typeface="Calibri" pitchFamily="34" charset="0"/>
                          <a:ea typeface="Calibri" pitchFamily="34" charset="-122"/>
                          <a:cs typeface="Calibri" pitchFamily="34" charset="-120"/>
                        </a:rPr>
                        <a:t>NVIDIA</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dirty="0">
                          <a:solidFill>
                            <a:srgbClr val="E9EEF4"/>
                          </a:solidFill>
                          <a:latin typeface="Calibri" pitchFamily="34" charset="0"/>
                          <a:ea typeface="Calibri" pitchFamily="34" charset="-122"/>
                          <a:cs typeface="Calibri" pitchFamily="34" charset="-120"/>
                        </a:rPr>
                        <a:t>Nemotron 3.5 lightning judges how certain a statement is; measured on our corpus</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i="1" dirty="0">
                          <a:solidFill>
                            <a:srgbClr val="E8863A"/>
                          </a:solidFill>
                          <a:latin typeface="Calibri" pitchFamily="34" charset="0"/>
                          <a:ea typeface="Calibri" pitchFamily="34" charset="-122"/>
                          <a:cs typeface="Calibri" pitchFamily="34" charset="-120"/>
                        </a:rPr>
                        <a:t>Run live, two runs; via NVIDIA API, not Nightshift</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603504">
                <a:tc>
                  <a:txBody>
                    <a:bodyPr/>
                    <a:lstStyle/>
                    <a:p>
                      <a:pPr indent="0" marL="0">
                        <a:buNone/>
                      </a:pPr>
                      <a:r>
                        <a:rPr lang="en-US" sz="1400" b="1" dirty="0">
                          <a:solidFill>
                            <a:srgbClr val="E9EEF4"/>
                          </a:solidFill>
                          <a:latin typeface="Calibri" pitchFamily="34" charset="0"/>
                          <a:ea typeface="Calibri" pitchFamily="34" charset="-122"/>
                          <a:cs typeface="Calibri" pitchFamily="34" charset="-120"/>
                        </a:rPr>
                        <a:t>Zetaris</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i="1" dirty="0">
                          <a:solidFill>
                            <a:srgbClr val="E8863A"/>
                          </a:solidFill>
                          <a:latin typeface="Calibri" pitchFamily="34" charset="0"/>
                          <a:ea typeface="Calibri" pitchFamily="34" charset="-122"/>
                          <a:cs typeface="Calibri" pitchFamily="34" charset="-120"/>
                        </a:rPr>
                        <a:t>Data layer: sources as REST tables, SQL view, the tool reads cases with SQL</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i="1" dirty="0">
                          <a:solidFill>
                            <a:srgbClr val="E8863A"/>
                          </a:solidFill>
                          <a:latin typeface="Calibri" pitchFamily="34" charset="0"/>
                          <a:ea typeface="Calibri" pitchFamily="34" charset="-122"/>
                          <a:cs typeface="Calibri" pitchFamily="34" charset="-120"/>
                        </a:rPr>
                        <a:t>Integrated; checked live on 17 cases</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r h="603504">
                <a:tc>
                  <a:txBody>
                    <a:bodyPr/>
                    <a:lstStyle/>
                    <a:p>
                      <a:pPr indent="0" marL="0">
                        <a:buNone/>
                      </a:pPr>
                      <a:r>
                        <a:rPr lang="en-US" sz="1400" b="1" dirty="0">
                          <a:solidFill>
                            <a:srgbClr val="E9EEF4"/>
                          </a:solidFill>
                          <a:latin typeface="Calibri" pitchFamily="34" charset="0"/>
                          <a:ea typeface="Calibri" pitchFamily="34" charset="-122"/>
                          <a:cs typeface="Calibri" pitchFamily="34" charset="-120"/>
                        </a:rPr>
                        <a:t>Cursor</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i="1" dirty="0">
                          <a:solidFill>
                            <a:srgbClr val="E8863A"/>
                          </a:solidFill>
                          <a:latin typeface="Calibri" pitchFamily="34" charset="0"/>
                          <a:ea typeface="Calibri" pitchFamily="34" charset="-122"/>
                          <a:cs typeface="Calibri" pitchFamily="34" charset="-120"/>
                        </a:rPr>
                        <a:t>Brainstorming only; the code was written with Claude</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c>
                  <a:txBody>
                    <a:bodyPr/>
                    <a:lstStyle/>
                    <a:p>
                      <a:pPr indent="0" marL="0">
                        <a:buNone/>
                      </a:pPr>
                      <a:r>
                        <a:rPr lang="en-US" sz="1400" i="1" dirty="0">
                          <a:solidFill>
                            <a:srgbClr val="E8863A"/>
                          </a:solidFill>
                          <a:latin typeface="Calibri" pitchFamily="34" charset="0"/>
                          <a:ea typeface="Calibri" pitchFamily="34" charset="-122"/>
                          <a:cs typeface="Calibri" pitchFamily="34" charset="-120"/>
                        </a:rPr>
                        <a:t>Optional under the final rules</a:t>
                      </a:r>
                      <a:endParaRPr lang="en-US" sz="1400" dirty="0">
                        <a:latin typeface="Calibri" charset="0"/>
                        <a:ea typeface="Calibri" charset="0"/>
                        <a:cs typeface="Calibri" charset="0"/>
                      </a:endParaRPr>
                    </a:p>
                  </a:txBody>
                  <a:tcPr marL="128016" marR="128016" marT="45720" marB="45720" anchor="ctr">
                    <a:lnL w="12700" cap="flat" cmpd="sng" algn="ctr">
                      <a:solidFill>
                        <a:srgbClr val="101A24"/>
                      </a:solidFill>
                      <a:prstDash val="solid"/>
                      <a:round/>
                      <a:headEnd type="none" w="med" len="med"/>
                      <a:tailEnd type="none" w="med" len="med"/>
                    </a:lnL>
                    <a:lnR w="12700" cap="flat" cmpd="sng" algn="ctr">
                      <a:solidFill>
                        <a:srgbClr val="101A24"/>
                      </a:solidFill>
                      <a:prstDash val="solid"/>
                      <a:round/>
                      <a:headEnd type="none" w="med" len="med"/>
                      <a:tailEnd type="none" w="med" len="med"/>
                    </a:lnR>
                    <a:lnT w="12700" cap="flat" cmpd="sng" algn="ctr">
                      <a:solidFill>
                        <a:srgbClr val="101A24"/>
                      </a:solidFill>
                      <a:prstDash val="solid"/>
                      <a:round/>
                      <a:headEnd type="none" w="med" len="med"/>
                      <a:tailEnd type="none" w="med" len="med"/>
                    </a:lnT>
                    <a:lnB w="12700" cap="flat" cmpd="sng" algn="ctr">
                      <a:solidFill>
                        <a:srgbClr val="101A24"/>
                      </a:solidFill>
                      <a:prstDash val="solid"/>
                      <a:round/>
                      <a:headEnd type="none" w="med" len="med"/>
                      <a:tailEnd type="none" w="med" len="med"/>
                    </a:lnB>
                    <a:solidFill>
                      <a:srgbClr val="192737"/>
                    </a:solidFill>
                  </a:tcPr>
                </a:tc>
              </a:tr>
            </a:tbl>
          </a:graphicData>
        </a:graphic>
      </p:graphicFrame>
      <p:sp>
        <p:nvSpPr>
          <p:cNvPr id="5" name="Text 2"/>
          <p:cNvSpPr txBox="1"/>
          <p:nvPr/>
        </p:nvSpPr>
        <p:spPr>
          <a:xfrm>
            <a:off x="548640" y="5257800"/>
            <a:ext cx="11064240" cy="822960"/>
          </a:xfrm>
          <a:prstGeom prst="rect">
            <a:avLst/>
          </a:prstGeom>
          <a:noFill/>
          <a:ln/>
        </p:spPr>
        <p:txBody>
          <a:bodyPr wrap="square" lIns="0" tIns="0" rIns="0" bIns="0" rtlCol="0" anchor="t"/>
          <a:lstStyle/>
          <a:p>
            <a:pPr indent="0" marL="0">
              <a:buNone/>
            </a:pPr>
            <a:r>
              <a:rPr lang="en-US" sz="1600" b="1" dirty="0">
                <a:solidFill>
                  <a:srgbClr val="E9EEF4"/>
                </a:solidFill>
                <a:latin typeface="Calibri" pitchFamily="34" charset="0"/>
                <a:ea typeface="Calibri" pitchFamily="34" charset="-122"/>
                <a:cs typeface="Calibri" pitchFamily="34" charset="-120"/>
              </a:rPr>
              <a:t>What is unique: the engine settles our core problem, so its record is the explanation; Zetaris serves the evidence with SQL; every claim here is backed by a test or a measured run, and the limits are stated.</a:t>
            </a:r>
            <a:pPr indent="0" marL="0">
              <a:buNone/>
            </a:pPr>
            <a:endParaRPr lang="en-US" sz="1600" dirty="0"/>
          </a:p>
        </p:txBody>
      </p:sp>
      <p:sp>
        <p:nvSpPr>
          <p:cNvPr id="6"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9FB0C1"/>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7" name="Text 4"/>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9FB0C1"/>
                </a:solidFill>
                <a:latin typeface="Calibri" pitchFamily="34" charset="0"/>
                <a:ea typeface="Calibri" pitchFamily="34" charset="-122"/>
                <a:cs typeface="Calibri" pitchFamily="34" charset="-120"/>
              </a:rPr>
              <a:t>11 / 13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274320"/>
          </a:xfrm>
          <a:prstGeom prst="rect">
            <a:avLst/>
          </a:prstGeom>
          <a:noFill/>
          <a:ln/>
        </p:spPr>
        <p:txBody>
          <a:bodyPr wrap="square" lIns="0" tIns="0" rIns="0" bIns="0" rtlCol="0" anchor="ctr"/>
          <a:lstStyle/>
          <a:p>
            <a:pPr indent="0" marL="0">
              <a:buNone/>
            </a:pPr>
            <a:r>
              <a:rPr lang="en-US" sz="1200" b="1" spc="300" kern="0" dirty="0">
                <a:solidFill>
                  <a:srgbClr val="A8530F"/>
                </a:solidFill>
                <a:latin typeface="Calibri" pitchFamily="34" charset="0"/>
                <a:ea typeface="Calibri" pitchFamily="34" charset="-122"/>
                <a:cs typeface="Calibri" pitchFamily="34" charset="-120"/>
              </a:rPr>
              <a:t>HONEST LIMITS AND NEXT STEPS</a:t>
            </a:r>
            <a:endParaRPr lang="en-US" sz="1200" dirty="0"/>
          </a:p>
        </p:txBody>
      </p:sp>
      <p:sp>
        <p:nvSpPr>
          <p:cNvPr id="3" name="Text 1"/>
          <p:cNvSpPr txBox="1"/>
          <p:nvPr/>
        </p:nvSpPr>
        <p:spPr>
          <a:xfrm>
            <a:off x="548640" y="868680"/>
            <a:ext cx="11064240" cy="731520"/>
          </a:xfrm>
          <a:prstGeom prst="rect">
            <a:avLst/>
          </a:prstGeom>
          <a:noFill/>
          <a:ln/>
        </p:spPr>
        <p:txBody>
          <a:bodyPr wrap="square" lIns="0" tIns="0" rIns="0" bIns="0" rtlCol="0" anchor="t"/>
          <a:lstStyle/>
          <a:p>
            <a:pPr indent="0" marL="0">
              <a:buNone/>
            </a:pPr>
            <a:r>
              <a:rPr lang="en-US" sz="3600" b="1" dirty="0">
                <a:solidFill>
                  <a:srgbClr val="1B2733"/>
                </a:solidFill>
                <a:latin typeface="Cambria" pitchFamily="34" charset="0"/>
                <a:ea typeface="Cambria" pitchFamily="34" charset="-122"/>
                <a:cs typeface="Cambria" pitchFamily="34" charset="-120"/>
              </a:rPr>
              <a:t>What it cannot do yet, and what comes next</a:t>
            </a:r>
            <a:endParaRPr lang="en-US" sz="3600" dirty="0"/>
          </a:p>
        </p:txBody>
      </p:sp>
      <p:sp>
        <p:nvSpPr>
          <p:cNvPr id="4" name="Shape 2"/>
          <p:cNvSpPr/>
          <p:nvPr/>
        </p:nvSpPr>
        <p:spPr>
          <a:xfrm>
            <a:off x="548640" y="1828800"/>
            <a:ext cx="5349240" cy="4114800"/>
          </a:xfrm>
          <a:prstGeom prst="roundRect">
            <a:avLst>
              <a:gd name="adj" fmla="val 2667"/>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5" name="Shape 3"/>
          <p:cNvSpPr/>
          <p:nvPr/>
        </p:nvSpPr>
        <p:spPr>
          <a:xfrm>
            <a:off x="822960" y="2103120"/>
            <a:ext cx="594360" cy="594360"/>
          </a:xfrm>
          <a:prstGeom prst="ellipse">
            <a:avLst/>
          </a:prstGeom>
          <a:solidFill>
            <a:srgbClr val="E8863A"/>
          </a:solidFill>
          <a:ln w="12700">
            <a:solidFill>
              <a:srgbClr val="E8863A"/>
            </a:solidFill>
            <a:prstDash val="solid"/>
          </a:ln>
        </p:spPr>
        <p:txBody>
          <a:bodyPr/>
          <a:p/>
        </p:txBody>
      </p:sp>
      <p:pic>
        <p:nvPicPr>
          <p:cNvPr id="6" name="Image 0" descr="preencoded.png">    </p:cNvPr>
          <p:cNvPicPr>
            <a:picLocks noChangeAspect="1"/>
          </p:cNvPicPr>
          <p:nvPr/>
        </p:nvPicPr>
        <p:blipFill>
          <a:blip r:embed="rId1"/>
          <a:stretch>
            <a:fillRect/>
          </a:stretch>
        </p:blipFill>
        <p:spPr>
          <a:xfrm>
            <a:off x="983437" y="2263597"/>
            <a:ext cx="273406" cy="273406"/>
          </a:xfrm>
          <a:prstGeom prst="rect">
            <a:avLst/>
          </a:prstGeom>
        </p:spPr>
      </p:pic>
      <p:sp>
        <p:nvSpPr>
          <p:cNvPr id="7" name="Text 4"/>
          <p:cNvSpPr txBox="1"/>
          <p:nvPr/>
        </p:nvSpPr>
        <p:spPr>
          <a:xfrm>
            <a:off x="1600200" y="2103120"/>
            <a:ext cx="4023360" cy="594360"/>
          </a:xfrm>
          <a:prstGeom prst="rect">
            <a:avLst/>
          </a:prstGeom>
          <a:noFill/>
          <a:ln/>
        </p:spPr>
        <p:txBody>
          <a:bodyPr wrap="square" lIns="0" tIns="0" rIns="0" bIns="0" rtlCol="0" anchor="ctr"/>
          <a:lstStyle/>
          <a:p>
            <a:pPr indent="0" marL="0">
              <a:buNone/>
            </a:pPr>
            <a:r>
              <a:rPr lang="en-US" sz="2400" b="1" dirty="0">
                <a:solidFill>
                  <a:srgbClr val="1B2733"/>
                </a:solidFill>
                <a:latin typeface="Cambria" pitchFamily="34" charset="0"/>
                <a:ea typeface="Cambria" pitchFamily="34" charset="-122"/>
                <a:cs typeface="Cambria" pitchFamily="34" charset="-120"/>
              </a:rPr>
              <a:t>Limits</a:t>
            </a:r>
            <a:endParaRPr lang="en-US" sz="2400" dirty="0"/>
          </a:p>
        </p:txBody>
      </p:sp>
      <p:sp>
        <p:nvSpPr>
          <p:cNvPr id="8" name="Text 5"/>
          <p:cNvSpPr txBox="1"/>
          <p:nvPr/>
        </p:nvSpPr>
        <p:spPr>
          <a:xfrm>
            <a:off x="822960" y="2926080"/>
            <a:ext cx="480060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B2733"/>
                </a:solidFill>
                <a:latin typeface="Calibri" pitchFamily="34" charset="0"/>
                <a:ea typeface="Calibri" pitchFamily="34" charset="-122"/>
                <a:cs typeface="Calibri" pitchFamily="34" charset="-120"/>
              </a:rPr>
              <a:t>Tickets and timelines are simulated; the corpus is our own, not independent data.</a:t>
            </a:r>
            <a:endParaRPr lang="en-US" sz="1700" dirty="0"/>
          </a:p>
          <a:p>
            <a:pPr marL="342900" indent="-342900">
              <a:spcAft>
                <a:spcPts val="1000"/>
              </a:spcAft>
              <a:buSzPct val="100000"/>
              <a:buChar char="•"/>
            </a:pPr>
            <a:r>
              <a:rPr lang="en-US" sz="1700" dirty="0">
                <a:solidFill>
                  <a:srgbClr val="1B2733"/>
                </a:solidFill>
                <a:latin typeface="Calibri" pitchFamily="34" charset="0"/>
                <a:ea typeface="Calibri" pitchFamily="34" charset="-122"/>
                <a:cs typeface="Calibri" pitchFamily="34" charset="-120"/>
              </a:rPr>
              <a:t>Misses confident claims wider than what is backed. Nemotron: good on our corpus, noisy on 24 real sentences (14/17 false alarms).</a:t>
            </a:r>
            <a:endParaRPr lang="en-US" sz="1700" dirty="0"/>
          </a:p>
          <a:p>
            <a:pPr marL="342900" indent="-342900">
              <a:spcAft>
                <a:spcPts val="1000"/>
              </a:spcAft>
              <a:buSzPct val="100000"/>
              <a:buChar char="•"/>
            </a:pPr>
            <a:r>
              <a:rPr lang="en-US" sz="1700" dirty="0">
                <a:solidFill>
                  <a:srgbClr val="1B2733"/>
                </a:solidFill>
                <a:latin typeface="Calibri" pitchFamily="34" charset="0"/>
                <a:ea typeface="Calibri" pitchFamily="34" charset="-122"/>
                <a:cs typeface="Calibri" pitchFamily="34" charset="-120"/>
              </a:rPr>
              <a:t>Meterless Runtime provider never ran against a real Nightshift.</a:t>
            </a:r>
            <a:endParaRPr lang="en-US" sz="1700" dirty="0"/>
          </a:p>
        </p:txBody>
      </p:sp>
      <p:sp>
        <p:nvSpPr>
          <p:cNvPr id="9" name="Shape 6"/>
          <p:cNvSpPr/>
          <p:nvPr/>
        </p:nvSpPr>
        <p:spPr>
          <a:xfrm>
            <a:off x="6263640" y="1828800"/>
            <a:ext cx="5349240" cy="4114800"/>
          </a:xfrm>
          <a:prstGeom prst="roundRect">
            <a:avLst>
              <a:gd name="adj" fmla="val 2667"/>
            </a:avLst>
          </a:prstGeom>
          <a:solidFill>
            <a:srgbClr val="FFFFFF"/>
          </a:solidFill>
          <a:ln w="12700">
            <a:solidFill>
              <a:srgbClr val="D5DCE4"/>
            </a:solidFill>
            <a:prstDash val="solid"/>
          </a:ln>
          <a:effectLst>
            <a:outerShdw sx="100000" sy="100000" kx="0" ky="0" algn="bl" rotWithShape="0" blurRad="101600" dist="25400" dir="5400000">
              <a:srgbClr val="000000">
                <a:alpha val="12000"/>
              </a:srgbClr>
            </a:outerShdw>
          </a:effectLst>
        </p:spPr>
        <p:txBody>
          <a:bodyPr/>
          <a:p/>
        </p:txBody>
      </p:sp>
      <p:sp>
        <p:nvSpPr>
          <p:cNvPr id="10" name="Shape 7"/>
          <p:cNvSpPr/>
          <p:nvPr/>
        </p:nvSpPr>
        <p:spPr>
          <a:xfrm>
            <a:off x="6537960" y="2103120"/>
            <a:ext cx="594360" cy="594360"/>
          </a:xfrm>
          <a:prstGeom prst="ellipse">
            <a:avLst/>
          </a:prstGeom>
          <a:solidFill>
            <a:srgbClr val="1F5FB8"/>
          </a:solidFill>
          <a:ln w="12700">
            <a:solidFill>
              <a:srgbClr val="1F5FB8"/>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6698437" y="2263597"/>
            <a:ext cx="273406" cy="273406"/>
          </a:xfrm>
          <a:prstGeom prst="rect">
            <a:avLst/>
          </a:prstGeom>
        </p:spPr>
      </p:pic>
      <p:sp>
        <p:nvSpPr>
          <p:cNvPr id="12" name="Text 8"/>
          <p:cNvSpPr txBox="1"/>
          <p:nvPr/>
        </p:nvSpPr>
        <p:spPr>
          <a:xfrm>
            <a:off x="7315200" y="2103120"/>
            <a:ext cx="4023360" cy="594360"/>
          </a:xfrm>
          <a:prstGeom prst="rect">
            <a:avLst/>
          </a:prstGeom>
          <a:noFill/>
          <a:ln/>
        </p:spPr>
        <p:txBody>
          <a:bodyPr wrap="square" lIns="0" tIns="0" rIns="0" bIns="0" rtlCol="0" anchor="ctr"/>
          <a:lstStyle/>
          <a:p>
            <a:pPr indent="0" marL="0">
              <a:buNone/>
            </a:pPr>
            <a:r>
              <a:rPr lang="en-US" sz="2400" b="1" dirty="0">
                <a:solidFill>
                  <a:srgbClr val="1B2733"/>
                </a:solidFill>
                <a:latin typeface="Cambria" pitchFamily="34" charset="0"/>
                <a:ea typeface="Cambria" pitchFamily="34" charset="-122"/>
                <a:cs typeface="Cambria" pitchFamily="34" charset="-120"/>
              </a:rPr>
              <a:t>Next</a:t>
            </a:r>
            <a:endParaRPr lang="en-US" sz="2400" dirty="0"/>
          </a:p>
        </p:txBody>
      </p:sp>
      <p:sp>
        <p:nvSpPr>
          <p:cNvPr id="13" name="Text 9"/>
          <p:cNvSpPr txBox="1"/>
          <p:nvPr/>
        </p:nvSpPr>
        <p:spPr>
          <a:xfrm>
            <a:off x="6537960" y="2926080"/>
            <a:ext cx="4800600" cy="28346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B2733"/>
                </a:solidFill>
                <a:latin typeface="Calibri" pitchFamily="34" charset="0"/>
                <a:ea typeface="Calibri" pitchFamily="34" charset="-122"/>
                <a:cs typeface="Calibri" pitchFamily="34" charset="-120"/>
              </a:rPr>
              <a:t>Run the provider against a real Nightshift (Windows, Mac or DGX).</a:t>
            </a:r>
            <a:endParaRPr lang="en-US" sz="1700" dirty="0"/>
          </a:p>
          <a:p>
            <a:pPr marL="342900" indent="-342900">
              <a:spcAft>
                <a:spcPts val="1000"/>
              </a:spcAft>
              <a:buSzPct val="100000"/>
              <a:buChar char="•"/>
            </a:pPr>
            <a:r>
              <a:rPr lang="en-US" sz="1700" dirty="0">
                <a:solidFill>
                  <a:srgbClr val="1B2733"/>
                </a:solidFill>
                <a:latin typeface="Calibri" pitchFamily="34" charset="0"/>
                <a:ea typeface="Calibri" pitchFamily="34" charset="-122"/>
                <a:cs typeface="Calibri" pitchFamily="34" charset="-120"/>
              </a:rPr>
              <a:t>Repeat the Nemotron measurement on independent sentences.</a:t>
            </a:r>
            <a:endParaRPr lang="en-US" sz="1700" dirty="0"/>
          </a:p>
          <a:p>
            <a:pPr marL="342900" indent="-342900">
              <a:spcAft>
                <a:spcPts val="1000"/>
              </a:spcAft>
              <a:buSzPct val="100000"/>
              <a:buChar char="•"/>
            </a:pPr>
            <a:r>
              <a:rPr lang="en-US" sz="1700" dirty="0">
                <a:solidFill>
                  <a:srgbClr val="1B2733"/>
                </a:solidFill>
                <a:latin typeface="Calibri" pitchFamily="34" charset="0"/>
                <a:ea typeface="Calibri" pitchFamily="34" charset="-122"/>
                <a:cs typeface="Calibri" pitchFamily="34" charset="-120"/>
              </a:rPr>
              <a:t>Add asset value and exposure to the ranking (exploitation flag: done).</a:t>
            </a:r>
            <a:endParaRPr lang="en-US" sz="1700" dirty="0"/>
          </a:p>
          <a:p>
            <a:pPr marL="342900" indent="-342900">
              <a:spcAft>
                <a:spcPts val="1000"/>
              </a:spcAft>
              <a:buSzPct val="100000"/>
              <a:buChar char="•"/>
            </a:pPr>
            <a:r>
              <a:rPr lang="en-US" sz="1700" dirty="0">
                <a:solidFill>
                  <a:srgbClr val="1B2733"/>
                </a:solidFill>
                <a:latin typeface="Calibri" pitchFamily="34" charset="0"/>
                <a:ea typeface="Calibri" pitchFamily="34" charset="-122"/>
                <a:cs typeface="Calibri" pitchFamily="34" charset="-120"/>
              </a:rPr>
              <a:t>Use Meterless memory so a case carries its history.</a:t>
            </a:r>
            <a:endParaRPr lang="en-US" sz="1700" dirty="0"/>
          </a:p>
        </p:txBody>
      </p:sp>
      <p:sp>
        <p:nvSpPr>
          <p:cNvPr id="14"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rgbClr val="4A5868"/>
                </a:solidFill>
                <a:latin typeface="Calibri" pitchFamily="34" charset="0"/>
                <a:ea typeface="Calibri" pitchFamily="34" charset="-122"/>
                <a:cs typeface="Calibri" pitchFamily="34" charset="-120"/>
              </a:rPr>
              <a:t>Does "fixed" mean fixed?  ·  Vulnerability Conflict Resolver</a:t>
            </a:r>
            <a:endParaRPr lang="en-US" sz="1100" dirty="0"/>
          </a:p>
        </p:txBody>
      </p:sp>
      <p:sp>
        <p:nvSpPr>
          <p:cNvPr id="15" name="Text 11"/>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100" dirty="0">
                <a:solidFill>
                  <a:srgbClr val="4A5868"/>
                </a:solidFill>
                <a:latin typeface="Calibri" pitchFamily="34" charset="0"/>
                <a:ea typeface="Calibri" pitchFamily="34" charset="-122"/>
                <a:cs typeface="Calibri" pitchFamily="34" charset="-120"/>
              </a:rPr>
              <a:t>12 / 13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A24"/>
        </a:solidFill>
      </p:bgPr>
    </p:bg>
    <p:spTree>
      <p:nvGrpSpPr>
        <p:cNvPr id="1" name=""/>
        <p:cNvGrpSpPr/>
        <p:nvPr/>
      </p:nvGrpSpPr>
      <p:grpSpPr>
        <a:xfrm>
          <a:off x="0" y="0"/>
          <a:ext cx="0" cy="0"/>
          <a:chOff x="0" y="0"/>
          <a:chExt cx="0" cy="0"/>
        </a:xfrm>
      </p:grpSpPr>
      <p:sp>
        <p:nvSpPr>
          <p:cNvPr id="2" name="Text 0"/>
          <p:cNvSpPr txBox="1"/>
          <p:nvPr/>
        </p:nvSpPr>
        <p:spPr>
          <a:xfrm>
            <a:off x="822960" y="1737360"/>
            <a:ext cx="10424160" cy="2194560"/>
          </a:xfrm>
          <a:prstGeom prst="rect">
            <a:avLst/>
          </a:prstGeom>
          <a:noFill/>
          <a:ln/>
        </p:spPr>
        <p:txBody>
          <a:bodyPr wrap="square" lIns="0" tIns="0" rIns="0" bIns="0" rtlCol="0" anchor="t"/>
          <a:lstStyle/>
          <a:p>
            <a:pPr indent="0" marL="0">
              <a:buNone/>
            </a:pPr>
            <a:r>
              <a:rPr lang="en-US" sz="5400" b="1" dirty="0">
                <a:solidFill>
                  <a:srgbClr val="E9EEF4"/>
                </a:solidFill>
                <a:latin typeface="Cambria" pitchFamily="34" charset="0"/>
                <a:ea typeface="Cambria" pitchFamily="34" charset="-122"/>
                <a:cs typeface="Cambria" pitchFamily="34" charset="-120"/>
              </a:rPr>
              <a:t>Explain why, with evidence you can check.</a:t>
            </a:r>
            <a:endParaRPr lang="en-US" sz="5400" dirty="0"/>
          </a:p>
        </p:txBody>
      </p:sp>
      <p:sp>
        <p:nvSpPr>
          <p:cNvPr id="3" name="Text 1"/>
          <p:cNvSpPr txBox="1"/>
          <p:nvPr/>
        </p:nvSpPr>
        <p:spPr>
          <a:xfrm>
            <a:off x="822960" y="4297680"/>
            <a:ext cx="9144000" cy="457200"/>
          </a:xfrm>
          <a:prstGeom prst="rect">
            <a:avLst/>
          </a:prstGeom>
          <a:noFill/>
          <a:ln/>
        </p:spPr>
        <p:txBody>
          <a:bodyPr wrap="square" lIns="0" tIns="0" rIns="0" bIns="0" rtlCol="0" anchor="ctr"/>
          <a:lstStyle/>
          <a:p>
            <a:pPr indent="0" marL="0">
              <a:buNone/>
            </a:pPr>
            <a:r>
              <a:rPr lang="en-US" sz="2000" dirty="0">
                <a:solidFill>
                  <a:srgbClr val="E8863A"/>
                </a:solidFill>
                <a:latin typeface="Courier New" pitchFamily="34" charset="0"/>
                <a:ea typeface="Courier New" pitchFamily="34" charset="-122"/>
                <a:cs typeface="Courier New" pitchFamily="34" charset="-120"/>
              </a:rPr>
              <a:t>github.com/nullstarr/vuln_agent</a:t>
            </a:r>
            <a:endParaRPr lang="en-US" sz="2000" dirty="0"/>
          </a:p>
        </p:txBody>
      </p:sp>
      <p:sp>
        <p:nvSpPr>
          <p:cNvPr id="4" name="Text 2"/>
          <p:cNvSpPr txBox="1"/>
          <p:nvPr/>
        </p:nvSpPr>
        <p:spPr>
          <a:xfrm>
            <a:off x="822960" y="4937760"/>
            <a:ext cx="9144000" cy="457200"/>
          </a:xfrm>
          <a:prstGeom prst="rect">
            <a:avLst/>
          </a:prstGeom>
          <a:noFill/>
          <a:ln/>
        </p:spPr>
        <p:txBody>
          <a:bodyPr wrap="square" lIns="0" tIns="0" rIns="0" bIns="0" rtlCol="0" anchor="ctr"/>
          <a:lstStyle/>
          <a:p>
            <a:pPr indent="0" marL="0">
              <a:buNone/>
            </a:pPr>
            <a:r>
              <a:rPr lang="en-US" sz="1800" dirty="0">
                <a:solidFill>
                  <a:srgbClr val="9FB0C1"/>
                </a:solidFill>
                <a:latin typeface="Calibri" pitchFamily="34" charset="0"/>
                <a:ea typeface="Calibri" pitchFamily="34" charset="-122"/>
                <a:cs typeface="Calibri" pitchFamily="34" charset="-120"/>
              </a:rPr>
              <a:t>Track 2: The Agent That Can Explain Why  ·  The Revolutionists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"fixed" mean fixed? Vulnerability Conflict Resolver</dc:title>
  <dc:subject>The Revolutionists Presentation</dc:subject>
  <dc:creator>The Revolutionists</dc:creator>
  <cp:lastModifiedBy>The Revolutionists</cp:lastModifiedBy>
  <cp:revision>1</cp:revision>
  <dcterms:created xsi:type="dcterms:W3CDTF">2026-10-24T00:00:00Z</dcterms:created>
  <dcterms:modified xsi:type="dcterms:W3CDTF">2026-10-24T00:00:00Z</dcterms:modified>
</cp:coreProperties>
</file>